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 sur la distinction technique vs utilisateur. Deux audiences, deux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Commencer par le niveau 0 au tableau, puis décomposer un processus en niveau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Faire dessiner les 4 symboles par les étudiants. Puis les assembler.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flowchart montre la LOGIQUE, le DFD montre les FLUX DE DONNÉES. Complémentaires.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dictionnaire technique est le document de référence pour la maintenance.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DFD et flowcharts sont requis pour M5 (doc complète).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A00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6A1B9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36576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19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274320" y="21945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 technique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DFD niveaux 0-2 · Flowcharts · Dictionnaire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Studios | BTEC: P5 M5 | LO4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 technique : pour qui 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: développeurs, DBA, équipe de maintenance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: permettre à quelqu'un d'AUTRE de comprendre le système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Contenu : DFD, flowcharts, dictionnaire technique, architecture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: document DOCX ou PDF structuré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 Documentation UTILISATEUR (Module 20) qui est pour les utilisateurs finaux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doc technique répond à : 'Comment le système FONCTIONNE ?'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doc utilisateur répond à : 'Comment UTILISER le système ?'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DFD : Data Flow Diagram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Diagramme qui montre les FLUX DE DONNÉES dans le système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0 (contexte) : le système entier = 1 seul processus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externes : Artiste, Comptable, Admin, Ingénieur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1 : décomposition en sous-processus (gérer artistes, planifier sessions, facturer)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2 : détail d'UN processus du niveau 1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niveau 'zoome' dans un processus pour plus de détails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: Draw.io (modèle DFD disponible)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Symboles DFD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⬭ Rectangle arrondi (ou cercle) : PROCESSUS — une action/transformation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▭ Rectangle ouvert (2 côtés) : STOCKAGE de données — table BDD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▬ Rectangle fermé : ENTITÉ EXTERNE — personne/système externe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Flèche : FLUX de données — transfert d'information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PROCESSUS transforme les données entrantes en données sortantes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STOCKAGE conserve les données entre les processus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L'ENTITÉ EXTERNE est source ou destinataire des données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Flowcharts : logique des processus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⬭ Ovale : Début / Fin du processus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▭ Rectangle : Action / Processus (ex: 'Vérifier disponibilité salle')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◇ Losange : Décision (oui/non, vrai/faux)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▱ Parallélogramme : Entrée / Sortie (ex: 'Afficher confirmation')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Flèches : direction du flux logique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: flowchart 'Réserver une session'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Inclure les cas d'erreur : salle indisponible, ingénieur occupé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Dictionnaire de données technique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 DD de conception (Module 3) : ici c'est le doc FINAL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table : nom, description, nombre de colonnes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colonne : nom, type MySQL EXACT, contraintes, description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Inclure les FK avec la table référencée + comportement (CASCADE/RESTRICT)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Générer automatiquement : SHOW CREATE TABLE → copier-coller + annoter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 les index avec justification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dictionnaire technique accompagne les DFD et flowcharts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Module 19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le DFD niveau 0 de SwissSound (Draw.io)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le DFD niveau 1 (4-5 sous-processus)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le DFD niveau 2 pour le processus 'Facturation'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le flowchart 'Réserver une session' avec cas d'erreur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Rédiger le dictionnaire technique des 9 tables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F3E5F5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 : documenter l'architecture technique (serveur, clients, réseau, backup)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A00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0" y="4572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🎮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Mini-jeu : Le Cartographe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Placez les bons symboles DFD au bon endroit !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Lancer le jeu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Mémo Module 19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Déblocable après complétion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286000" cy="475488"/>
          </a:xfrm>
          <a:prstGeom prst="rect">
            <a:avLst/>
          </a:prstGeom>
          <a:solidFill>
            <a:srgbClr val="F3E5F5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601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DFD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0" y="960120"/>
            <a:ext cx="5943600" cy="475488"/>
          </a:xfrm>
          <a:prstGeom prst="rect">
            <a:avLst/>
          </a:prstGeom>
          <a:solidFill>
            <a:srgbClr val="F3E5F5"/>
          </a:solidFill>
          <a:ln/>
        </p:spPr>
      </p:sp>
      <p:sp>
        <p:nvSpPr>
          <p:cNvPr id="8" name="Text 6"/>
          <p:cNvSpPr/>
          <p:nvPr/>
        </p:nvSpPr>
        <p:spPr>
          <a:xfrm>
            <a:off x="2834640" y="9601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 les flux de DONNÉES (pas la logique)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630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Niveau 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0" y="146304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Text 10"/>
          <p:cNvSpPr/>
          <p:nvPr/>
        </p:nvSpPr>
        <p:spPr>
          <a:xfrm>
            <a:off x="2834640" y="14630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: système = 1 processus, entités externes autour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2286000" cy="475488"/>
          </a:xfrm>
          <a:prstGeom prst="rect">
            <a:avLst/>
          </a:prstGeom>
          <a:solidFill>
            <a:srgbClr val="F3E5F5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659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Niveau 1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0" y="1965960"/>
            <a:ext cx="5943600" cy="475488"/>
          </a:xfrm>
          <a:prstGeom prst="rect">
            <a:avLst/>
          </a:prstGeom>
          <a:solidFill>
            <a:srgbClr val="F3E5F5"/>
          </a:solidFill>
          <a:ln/>
        </p:spPr>
      </p:sp>
      <p:sp>
        <p:nvSpPr>
          <p:cNvPr id="16" name="Text 14"/>
          <p:cNvSpPr/>
          <p:nvPr/>
        </p:nvSpPr>
        <p:spPr>
          <a:xfrm>
            <a:off x="2834640" y="196596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Décomposition en sous-processus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46888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46888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Niveau 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246888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0" name="Text 18"/>
          <p:cNvSpPr/>
          <p:nvPr/>
        </p:nvSpPr>
        <p:spPr>
          <a:xfrm>
            <a:off x="2834640" y="246888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Détail d'un processus du niveau 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971800"/>
            <a:ext cx="2286000" cy="475488"/>
          </a:xfrm>
          <a:prstGeom prst="rect">
            <a:avLst/>
          </a:prstGeom>
          <a:solidFill>
            <a:srgbClr val="F3E5F5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97180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Flowchart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971800"/>
            <a:ext cx="5943600" cy="475488"/>
          </a:xfrm>
          <a:prstGeom prst="rect">
            <a:avLst/>
          </a:prstGeom>
          <a:solidFill>
            <a:srgbClr val="F3E5F5"/>
          </a:solidFill>
          <a:ln/>
        </p:spPr>
      </p:sp>
      <p:sp>
        <p:nvSpPr>
          <p:cNvPr id="24" name="Text 22"/>
          <p:cNvSpPr/>
          <p:nvPr/>
        </p:nvSpPr>
        <p:spPr>
          <a:xfrm>
            <a:off x="2834640" y="297180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 la LOGIQUE : actions + décisions + flux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47472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4747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Symboles DFD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0" y="347472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8" name="Text 26"/>
          <p:cNvSpPr/>
          <p:nvPr/>
        </p:nvSpPr>
        <p:spPr>
          <a:xfrm>
            <a:off x="2834640" y="34747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Cercle=processus, rectangle ouvert=stockage, fermé=externe, flèche=flux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2286000" cy="475488"/>
          </a:xfrm>
          <a:prstGeom prst="rect">
            <a:avLst/>
          </a:prstGeom>
          <a:solidFill>
            <a:srgbClr val="F3E5F5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9776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007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Dict. technique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743200" y="3977640"/>
            <a:ext cx="5943600" cy="475488"/>
          </a:xfrm>
          <a:prstGeom prst="rect">
            <a:avLst/>
          </a:prstGeom>
          <a:solidFill>
            <a:srgbClr val="F3E5F5"/>
          </a:solidFill>
          <a:ln/>
        </p:spPr>
      </p:sp>
      <p:sp>
        <p:nvSpPr>
          <p:cNvPr id="32" name="Text 30"/>
          <p:cNvSpPr/>
          <p:nvPr/>
        </p:nvSpPr>
        <p:spPr>
          <a:xfrm>
            <a:off x="2834640" y="39776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par table : colonne, type, contraintes, FK, description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19</dc:title>
  <dc:subject>PptxGenJS Presentation</dc:subject>
  <dc:creator>PptxGenJS</dc:creator>
  <cp:lastModifiedBy>PptxGenJS</cp:lastModifiedBy>
  <cp:revision>1</cp:revision>
  <dcterms:created xsi:type="dcterms:W3CDTF">2026-03-22T04:56:50Z</dcterms:created>
  <dcterms:modified xsi:type="dcterms:W3CDTF">2026-03-22T04:56:50Z</dcterms:modified>
</cp:coreProperties>
</file>