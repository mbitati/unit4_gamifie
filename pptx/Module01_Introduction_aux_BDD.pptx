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Partir du concret : demander aux étudiants quelles BDD ils utilisent au quotidien (Spotify, Instagram, banque...). Montrer que TOUT repose sur des BDD.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dans ce cours on travaille avec MySQL (relationnel). NoSQL est présenté pour la culture. Question piège : 'Peut-on mélanger les deux ?' → Oui, beaucoup d'entreprises utilisent les deux.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Vocabulaire FONDAMENTAL. Les étudiants doivent connaître les termes en français ET en anglais. Exercice : afficher une table et demander de pointer : 'Où est un enregistrement ? Un champ ? La PK 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cet exemple concret. Poser des questions : 'Combien de colonnes ? Combien de lignes ? Quelle est la PK ? Pourquoi prenom est NULL pour certains ?' → Ce sont des groupes, pas des individus.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le lien avec le quotidien des étudiants. Chaque app sur leur téléphone utilise une BDD. Instagram = BDD de posts/likes/followers. Spotify = BDD de chansons/playlists/écoutes.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Vérifier que tous les étudiants ont installé HeidiSQL et peuvent se connecter à MySQL. Faire une démo de connexion en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scénario comme un vrai projet professionnel. Les étudiants sont des développeurs embauchés par SwissSound pour créer leur système de gestion. Chaque module = une étape du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pratique de découverte. Laisser 15-20 minutes d'exploration libre. Passer dans les rangs pour aider ceux qui ont des problèmes de connexion.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autonome. Les étudiants travaillent seuls ou en binômes. Correction collective au tableau.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657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aux Bases de Données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Relationnelle vs non-relationnelle · Vocabulaire · SGBD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Studios | BTEC: P1 | LO1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Unit 4 — Database Design &amp;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Qu'est-ce qu'une base de données 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organisée de données structurées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8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Stockée électroniquement dans un système informatique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0312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Gérée par un SGBD (Système de Gestion de Bases de Données)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9748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9748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: stocker, retrouver, modifier, supprimer efficacement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9184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9184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contacts téléphone, catalogue Netflix, comptes bancaires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8620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862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a besoin d'une BDD pour gérer artistes, albums, sessions...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BDD Relationnelle vs Non-relationnelle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20624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🔷 Relationnelle (SQL)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Données en TABLES (lignes × colonnes)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Relations entre tables (clés étrangères)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Langage SQL standardisé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Structure fixe (schéma défini à l'avance)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ACID : fiabilité des transactions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Ex: MySQL, PostgreSQL, Oracle, SQL Server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2062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14400"/>
            <a:ext cx="4206240" cy="45720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914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🔶 Non-relationnelle (NoSQL)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463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Documents JSON, clé-valeur, graphes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Pas de schéma fixe (flexible)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Scalabilité horizontale facile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834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Données non structurées ou semi-structurées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291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Ex: MongoDB, Redis, Cassandra, Neo4j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749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Utilisé pour : Big Data, temps réel, IoT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Vocabulaire essentiel (à retenir !)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8691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(ou relation) = ensemble de données du même type (ex: table Artiste)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28750"/>
            <a:ext cx="8229600" cy="48691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2875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2875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(ou enregistrement, tuple, record) = une entrée (ex: Marc Léman)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43100"/>
            <a:ext cx="8229600" cy="48691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4310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94310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(ou champ, attribut, field) = une propriété (ex: nom, email)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57450"/>
            <a:ext cx="8229600" cy="48691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5745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45745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= structure complète de la BDD (toutes les tables + relations)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8691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7180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7180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SGBD = logiciel qui gère la BDD (MySQL dans notre cours)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86150"/>
            <a:ext cx="8229600" cy="48691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48615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48615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= instruction pour interroger/modifier la BDD (langage SQL)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00500"/>
            <a:ext cx="8229600" cy="48691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00050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00050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PRIMAIRE (PK) = identifiant unique d'une ligne (ex: id_artiste)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514850"/>
            <a:ext cx="8229600" cy="48691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51485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51485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ÉTRANGÈRE (FK) = lien vers une autre table (ex: id_artiste dans Album)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Exemple : la table Artiste de SwissSound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id_artiste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nom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prenom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email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date_inscription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actif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Léman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marc.leman@music.ch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2023-01-15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Alpes Sound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contact@alpessound.ch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2023-02-20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Dubois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Sophie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sophie.dubois@music.ch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2023-03-10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 Helvetik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booking@mchelvetik.ch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2023-04-05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Müller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Thomas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thomas.muller@music.ch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2023-05-12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Rôle des BDD dans les organisations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Back-end des applications web et mobiles (invisible pour l'utilisateur)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2229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2229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2229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E-commerce : produits, paniers, commandes, clients, paiements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90057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90057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90057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Banques : comptes, transactions, historique (fiabilité critique)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77886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77886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77886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 mining : analyse de données massives pour prendre des décisions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65714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65714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65714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Blockchain : registres distribués et immuables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53543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53543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53543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Santé : dossiers patients, prescriptions, rendez-vous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41371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441371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441371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SwissSound : artistes, albums, sessions, salles, factures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outils de notre cours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20624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🛠️ Outils principaux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MySQL 8.x — le SGBD (moteur)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HeidiSQL — client graphique (interface)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MySQL Workbench — modélisation EER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Draw.io — diagrammes (DER, DFD, UML)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VS Code — édition de scripts 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14400"/>
            <a:ext cx="42062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14400"/>
            <a:ext cx="4206240" cy="45720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914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Ressources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SwissSound Academy (hub Vercel)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Mini-jeux interactifs par module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Scripts SQL sur GitHub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834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PPTX enseignant avec notes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Fiches mémo déblocables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SwissSound Studios — notre scénario fil rouge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8691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Studio d'enregistrement musical en Suisse romande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28750"/>
            <a:ext cx="8229600" cy="48691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2875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2875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: artistes, albums, sessions d'enregistrement, ingénieurs son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43100"/>
            <a:ext cx="8229600" cy="48691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4310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94310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salles (Studio Pro, Podcast, Live, Cabine Voix, Mixage)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57450"/>
            <a:ext cx="8229600" cy="48691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5745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45745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ingénieurs son avec spécialités différentes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8691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7180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7180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artistes inscrits (solo et groupes)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86150"/>
            <a:ext cx="8229600" cy="48691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48615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48615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MÊME scénario traverse les 4 LO du cours 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00500"/>
            <a:ext cx="8229600" cy="48691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00050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00050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 : on CONÇOIT la BDD → LO2 : on la CODE en SQL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514850"/>
            <a:ext cx="8229600" cy="48691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51485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51485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 : on la TESTE → LO4 : on la DOCUMENTE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Découverte de MySQL Workbench + sakila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fournit une BDD exemple : 'sakila' (location de DVD)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2229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2229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2229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: se connecter et explorer sakila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90057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90057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90057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Combien de tables ? (16 tables)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77886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77886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77886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Ouvrir la table 'actor' : identifier PK, colonnes, types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65714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65714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65714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Ouvrir la table 'film' : trouver la FK vers 'language'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53543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53543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53543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Naviguer dans le schéma EER (diagramme visuel)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41371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441371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441371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se familiariser avec l'interface AVANT de créer SwissSound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✏️ Exercice Module 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9144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sakila : combien de tables ? Lister leurs noms.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5448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544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5544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table 'film' : identifier la clé primaire et 2 clés étrangères.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9456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945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1945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3 relations entre tables (ex: film → language).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3464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346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28346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Dessiner un mini-schéma à la main de 3 tables avec leurs relations.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7472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747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4747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: qu'est-ce qui serait différent avec MongoDB (NoSQL) 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1480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1148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41148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BONUS : installer MongoDB Atlas (gratuit) et comparer la 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0" y="4572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🎮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Mini-jeu : Serpent de Données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interactif sur le vocabulaire BDD.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Mangez les bons termes, évitez les intrus 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Lancer le jeu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Correction automatique + Historique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Mémo Module 1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Déblocable après complétion de toutes les phases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286000" cy="40944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21031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BDD relationnelle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960120"/>
            <a:ext cx="5943600" cy="40944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960120"/>
            <a:ext cx="57607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avec lignes/colonnes, SQL, relations via FK — MySQL, PostgreSQL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97000"/>
            <a:ext cx="2286000" cy="40944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97000"/>
            <a:ext cx="21031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BDD non-relationnelle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1397000"/>
            <a:ext cx="5943600" cy="40944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397000"/>
            <a:ext cx="57607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JSON, clé-valeur, graphes — MongoDB, Redis, flexible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833880"/>
            <a:ext cx="2286000" cy="40944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833880"/>
            <a:ext cx="21031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1833880"/>
            <a:ext cx="5943600" cy="40944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1833880"/>
            <a:ext cx="57607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d'enregistrements du même type (ex: table Artiste)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270760"/>
            <a:ext cx="2286000" cy="40944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270760"/>
            <a:ext cx="21031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Ligne/Enregistrement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2270760"/>
            <a:ext cx="5943600" cy="40944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0" y="2270760"/>
            <a:ext cx="57607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entrée complète dans la table (ex: Marc Léman)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707640"/>
            <a:ext cx="2286000" cy="40944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707640"/>
            <a:ext cx="21031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Colonne/Champ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2707640"/>
            <a:ext cx="5943600" cy="40944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0" y="2707640"/>
            <a:ext cx="57607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propriété (ex: nom, email, date_inscription)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144520"/>
            <a:ext cx="2286000" cy="40944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144520"/>
            <a:ext cx="21031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SGBD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0" y="3144520"/>
            <a:ext cx="5943600" cy="40944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0" y="3144520"/>
            <a:ext cx="57607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 de gestion : MySQL (serveur) + HeidiSQL (client)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581400"/>
            <a:ext cx="2286000" cy="40944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581400"/>
            <a:ext cx="21031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Clé primaire (PK)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0" y="3581400"/>
            <a:ext cx="5943600" cy="40944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0" y="3581400"/>
            <a:ext cx="57607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unique d'une ligne (ex: id_artiste)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18280"/>
            <a:ext cx="2286000" cy="40944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018280"/>
            <a:ext cx="21031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Clé étrangère (FK)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0" y="4018280"/>
            <a:ext cx="5943600" cy="40944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6" name="Text 34"/>
          <p:cNvSpPr/>
          <p:nvPr/>
        </p:nvSpPr>
        <p:spPr>
          <a:xfrm>
            <a:off x="2834640" y="4018280"/>
            <a:ext cx="57607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vers la PK d'une autre table (relation)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455160"/>
            <a:ext cx="2286000" cy="40944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455160"/>
            <a:ext cx="21031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SwissSound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0" y="4455160"/>
            <a:ext cx="5943600" cy="40944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0" name="Text 38"/>
          <p:cNvSpPr/>
          <p:nvPr/>
        </p:nvSpPr>
        <p:spPr>
          <a:xfrm>
            <a:off x="2834640" y="4455160"/>
            <a:ext cx="5760720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fil rouge : studio d'enregistrement, 9 tables, LO1→LO4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01</dc:title>
  <dc:subject>PptxGenJS Presentation</dc:subject>
  <dc:creator>PptxGenJS</dc:creator>
  <cp:lastModifiedBy>PptxGenJS</cp:lastModifiedBy>
  <cp:revision>1</cp:revision>
  <dcterms:created xsi:type="dcterms:W3CDTF">2026-03-22T04:50:55Z</dcterms:created>
  <dcterms:modified xsi:type="dcterms:W3CDTF">2026-03-22T04:50:55Z</dcterms:modified>
</cp:coreProperties>
</file>