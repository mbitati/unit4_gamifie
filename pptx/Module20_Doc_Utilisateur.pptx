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20 : Documentation utilisateur et évaluation finale D3. Ce module couvre la rédaction de guides utilisateur avec captures d'écran, FAQ, et guide de démarrage rapide. Les étudiants apprennent la différence entre doc technique (Module 19) et doc utilisateur. Critères BTEC : P5 (produire doc), M5 (doc complète avec DFD/flowcharts), D3 (évaluer améliorations pour efficacité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objectifs clés pour ce module. L'objectif D3 est le plus ambitieux : les étudiants doivent proposer des améliorations concrètes (migration cloud, API REST, dashboard BI, app mobile,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clé pour bien distinguer les deux types. Les étudiants confondent souvent. Doc technique = pour ceux qui maintiennent le système. Doc utilisateur = pour ceux qui l'utilisent au quotidien. Donner des exemples concrets de SwissSound : la réceptionniste n'a pas besoin du DFD, elle a besoin de savoir comment ajouter un artiste.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type d'un guide utilisateur. Insister sur le fait que CHAQUE procédure doit avoir des captures d'écran annotées. Le guide de démarrage rapide est souvent négligé mais c'est le plus utile pour les nouveaux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captures d'écran sont ESSENTIELLES dans un guide utilisateur. Outil recommandé : Greenshot (gratuit) ou Snipping Tool Windows. Montrer un exemple de capture bien annotée vs mal annotée avec HeidiSQL.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concret de procédure bien rédigée. Insister : chaque étape = 1 capture. Les étudiants oublient souvent les étapes de vérification (6 et 7). C'est exactement ce qui est testé dans le mini-jeu 'Le Guide Parfait'.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FAQ doit refléter les VRAIS problèmes rencontrés. Demander aux étudiants de noter les erreurs qu'ils ont eues pendant le semestre — c'est la meilleure source pour une FAQ réaliste.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est le critère Distinction. Les étudiants doivent aller au-delà de ce qui a été fait et proposer des améliorations concrètes et argumentées. Exemples : migration vers le cloud pour la scalabilité, API REST pour l'intégration avec d'autres systèmes, dashboard BI pour l'analyse des données. Ils doivent ARGUMENTER chaque amélioration (pourquoi ? quel bénéfice ? quel coût estimé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principal du module. P5 est le minimum (3 procédures avec captures). M5 ajoute le guide complet. D3 est l'analyse d'améliorations. Donner 2 périodes pour P5, 1 pour M5, 1 pour D3.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mini-jeu 'Le Guide Parfait' sur Vercel. Les étudiants ont 3 minutes par tâche pour écrire les instructions. Le jeu compare automatiquement avec les étapes attendues et score la complétude. Idéal pour 15 minutes d'activité engageante.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Mémo déblocable : fiche récapitulative du module. Imprimer en A4 pour les étudiants qui ont terminé toutes les phases. Sert de référence rapide pour le rapport final BTEC.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007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0072"/>
          </a:solidFill>
          <a:ln/>
        </p:spPr>
      </p:sp>
      <p:sp>
        <p:nvSpPr>
          <p:cNvPr id="3" name="Shape 1"/>
          <p:cNvSpPr/>
          <p:nvPr/>
        </p:nvSpPr>
        <p:spPr>
          <a:xfrm>
            <a:off x="0" y="3840480"/>
            <a:ext cx="9144000" cy="1303020"/>
          </a:xfrm>
          <a:prstGeom prst="rect">
            <a:avLst/>
          </a:prstGeom>
          <a:solidFill>
            <a:srgbClr val="6A1B9A"/>
          </a:solidFill>
          <a:ln/>
        </p:spPr>
      </p:sp>
      <p:pic>
        <p:nvPicPr>
          <p:cNvPr id="4" name="Image 0" descr="preencoded.png">    </p:cNvPr>
          <p:cNvPicPr>
            <a:picLocks noChangeAspect="1"/>
          </p:cNvPicPr>
          <p:nvPr/>
        </p:nvPicPr>
        <p:blipFill>
          <a:blip r:embed="rId1"/>
          <a:stretch>
            <a:fillRect/>
          </a:stretch>
        </p:blipFill>
        <p:spPr>
          <a:xfrm>
            <a:off x="3931920" y="548640"/>
            <a:ext cx="1280160" cy="1280160"/>
          </a:xfrm>
          <a:prstGeom prst="rect">
            <a:avLst/>
          </a:prstGeom>
        </p:spPr>
      </p:pic>
      <p:sp>
        <p:nvSpPr>
          <p:cNvPr id="5" name="Text 2"/>
          <p:cNvSpPr/>
          <p:nvPr/>
        </p:nvSpPr>
        <p:spPr>
          <a:xfrm>
            <a:off x="457200" y="1920240"/>
            <a:ext cx="8229600" cy="548640"/>
          </a:xfrm>
          <a:prstGeom prst="rect">
            <a:avLst/>
          </a:prstGeom>
          <a:noFill/>
          <a:ln/>
        </p:spPr>
        <p:txBody>
          <a:bodyPr wrap="square" rtlCol="0" anchor="ctr"/>
          <a:lstStyle/>
          <a:p>
            <a:pPr algn="ctr" indent="0" marL="0">
              <a:buNone/>
            </a:pPr>
            <a:r>
              <a:rPr lang="en-US" sz="1800" b="1" dirty="0">
                <a:solidFill>
                  <a:srgbClr val="9C4DCC"/>
                </a:solidFill>
                <a:latin typeface="Calibri" pitchFamily="34" charset="0"/>
                <a:ea typeface="Calibri" pitchFamily="34" charset="-122"/>
                <a:cs typeface="Calibri" pitchFamily="34" charset="-120"/>
              </a:rPr>
              <a:t>Module 20</a:t>
            </a:r>
            <a:endParaRPr lang="en-US" sz="1800" dirty="0"/>
          </a:p>
        </p:txBody>
      </p:sp>
      <p:sp>
        <p:nvSpPr>
          <p:cNvPr id="6" name="Text 3"/>
          <p:cNvSpPr/>
          <p:nvPr/>
        </p:nvSpPr>
        <p:spPr>
          <a:xfrm>
            <a:off x="457200" y="2377440"/>
            <a:ext cx="8229600" cy="822960"/>
          </a:xfrm>
          <a:prstGeom prst="rect">
            <a:avLst/>
          </a:prstGeom>
          <a:noFill/>
          <a:ln/>
        </p:spPr>
        <p:txBody>
          <a:bodyPr wrap="square"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Documentation Utilisateur</a:t>
            </a:r>
            <a:endParaRPr lang="en-US" sz="3600" dirty="0"/>
          </a:p>
        </p:txBody>
      </p:sp>
      <p:sp>
        <p:nvSpPr>
          <p:cNvPr id="7" name="Text 4"/>
          <p:cNvSpPr/>
          <p:nvPr/>
        </p:nvSpPr>
        <p:spPr>
          <a:xfrm>
            <a:off x="457200" y="3108960"/>
            <a:ext cx="8229600" cy="457200"/>
          </a:xfrm>
          <a:prstGeom prst="rect">
            <a:avLst/>
          </a:prstGeom>
          <a:noFill/>
          <a:ln/>
        </p:spPr>
        <p:txBody>
          <a:bodyPr wrap="square" rtlCol="0" anchor="ctr"/>
          <a:lstStyle/>
          <a:p>
            <a:pPr algn="ctr" indent="0" marL="0">
              <a:buNone/>
            </a:pPr>
            <a:r>
              <a:rPr lang="en-US" sz="2000" b="1" dirty="0">
                <a:solidFill>
                  <a:srgbClr val="FF6F00"/>
                </a:solidFill>
                <a:latin typeface="Calibri" pitchFamily="34" charset="0"/>
                <a:ea typeface="Calibri" pitchFamily="34" charset="-122"/>
                <a:cs typeface="Calibri" pitchFamily="34" charset="-120"/>
              </a:rPr>
              <a:t>+ Évaluation finale (D3)</a:t>
            </a:r>
            <a:endParaRPr lang="en-US" sz="2000" dirty="0"/>
          </a:p>
        </p:txBody>
      </p:sp>
      <p:sp>
        <p:nvSpPr>
          <p:cNvPr id="8" name="Text 5"/>
          <p:cNvSpPr/>
          <p:nvPr/>
        </p:nvSpPr>
        <p:spPr>
          <a:xfrm>
            <a:off x="457200" y="4114800"/>
            <a:ext cx="8229600" cy="365760"/>
          </a:xfrm>
          <a:prstGeom prst="rect">
            <a:avLst/>
          </a:prstGeom>
          <a:noFill/>
          <a:ln/>
        </p:spPr>
        <p:txBody>
          <a:bodyPr wrap="square" rtlCol="0" anchor="ctr"/>
          <a:lstStyle/>
          <a:p>
            <a:pPr algn="ctr" indent="0" marL="0">
              <a:buNone/>
            </a:pPr>
            <a:r>
              <a:rPr lang="en-US" sz="1200" dirty="0">
                <a:solidFill>
                  <a:srgbClr val="CCAAEE"/>
                </a:solidFill>
                <a:latin typeface="Calibri" pitchFamily="34" charset="0"/>
                <a:ea typeface="Calibri" pitchFamily="34" charset="-122"/>
                <a:cs typeface="Calibri" pitchFamily="34" charset="-120"/>
              </a:rPr>
              <a:t>Unit 4 — Database Design &amp; Development | SwissSound Studios</a:t>
            </a:r>
            <a:endParaRPr lang="en-US" sz="1200" dirty="0"/>
          </a:p>
        </p:txBody>
      </p:sp>
      <p:sp>
        <p:nvSpPr>
          <p:cNvPr id="9" name="Text 6"/>
          <p:cNvSpPr/>
          <p:nvPr/>
        </p:nvSpPr>
        <p:spPr>
          <a:xfrm>
            <a:off x="457200" y="4480560"/>
            <a:ext cx="8229600" cy="274320"/>
          </a:xfrm>
          <a:prstGeom prst="rect">
            <a:avLst/>
          </a:prstGeom>
          <a:noFill/>
          <a:ln/>
        </p:spPr>
        <p:txBody>
          <a:bodyPr wrap="square" rtlCol="0" anchor="ctr"/>
          <a:lstStyle/>
          <a:p>
            <a:pPr algn="ctr" indent="0" marL="0">
              <a:buNone/>
            </a:pPr>
            <a:r>
              <a:rPr lang="en-US" sz="1100" dirty="0">
                <a:solidFill>
                  <a:srgbClr val="AA88CC"/>
                </a:solidFill>
                <a:latin typeface="Calibri" pitchFamily="34" charset="0"/>
                <a:ea typeface="Calibri" pitchFamily="34" charset="-122"/>
                <a:cs typeface="Calibri" pitchFamily="34" charset="-120"/>
              </a:rPr>
              <a:t>BTEC : P5, M5, D3 | LO4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Objectifs du module</a:t>
            </a:r>
            <a:endParaRPr lang="en-US" sz="2800" dirty="0"/>
          </a:p>
        </p:txBody>
      </p:sp>
      <p:sp>
        <p:nvSpPr>
          <p:cNvPr id="3" name="Shape 1"/>
          <p:cNvSpPr/>
          <p:nvPr/>
        </p:nvSpPr>
        <p:spPr>
          <a:xfrm>
            <a:off x="457200" y="1097280"/>
            <a:ext cx="8229600" cy="640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4" name="Shape 2"/>
          <p:cNvSpPr/>
          <p:nvPr/>
        </p:nvSpPr>
        <p:spPr>
          <a:xfrm>
            <a:off x="457200" y="1097280"/>
            <a:ext cx="73152" cy="640080"/>
          </a:xfrm>
          <a:prstGeom prst="rect">
            <a:avLst/>
          </a:prstGeom>
          <a:solidFill>
            <a:srgbClr val="6A1B9A"/>
          </a:solidFill>
          <a:ln/>
        </p:spPr>
      </p:sp>
      <p:pic>
        <p:nvPicPr>
          <p:cNvPr id="5" name="Image 0" descr="preencoded.png">    </p:cNvPr>
          <p:cNvPicPr>
            <a:picLocks noChangeAspect="1"/>
          </p:cNvPicPr>
          <p:nvPr/>
        </p:nvPicPr>
        <p:blipFill>
          <a:blip r:embed="rId1"/>
          <a:stretch>
            <a:fillRect/>
          </a:stretch>
        </p:blipFill>
        <p:spPr>
          <a:xfrm>
            <a:off x="731520" y="1207008"/>
            <a:ext cx="411480" cy="411480"/>
          </a:xfrm>
          <a:prstGeom prst="rect">
            <a:avLst/>
          </a:prstGeom>
        </p:spPr>
      </p:pic>
      <p:sp>
        <p:nvSpPr>
          <p:cNvPr id="6" name="Text 3"/>
          <p:cNvSpPr/>
          <p:nvPr/>
        </p:nvSpPr>
        <p:spPr>
          <a:xfrm>
            <a:off x="1371600" y="1097280"/>
            <a:ext cx="7132320" cy="6400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Comprendre la différence entre documentation technique et utilisateur</a:t>
            </a:r>
            <a:endParaRPr lang="en-US" sz="1400" dirty="0"/>
          </a:p>
        </p:txBody>
      </p:sp>
      <p:sp>
        <p:nvSpPr>
          <p:cNvPr id="7" name="Shape 4"/>
          <p:cNvSpPr/>
          <p:nvPr/>
        </p:nvSpPr>
        <p:spPr>
          <a:xfrm>
            <a:off x="457200" y="1828800"/>
            <a:ext cx="8229600" cy="640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5"/>
          <p:cNvSpPr/>
          <p:nvPr/>
        </p:nvSpPr>
        <p:spPr>
          <a:xfrm>
            <a:off x="457200" y="1828800"/>
            <a:ext cx="73152" cy="640080"/>
          </a:xfrm>
          <a:prstGeom prst="rect">
            <a:avLst/>
          </a:prstGeom>
          <a:solidFill>
            <a:srgbClr val="6A1B9A"/>
          </a:solidFill>
          <a:ln/>
        </p:spPr>
      </p:sp>
      <p:pic>
        <p:nvPicPr>
          <p:cNvPr id="9" name="Image 1" descr="preencoded.png">    </p:cNvPr>
          <p:cNvPicPr>
            <a:picLocks noChangeAspect="1"/>
          </p:cNvPicPr>
          <p:nvPr/>
        </p:nvPicPr>
        <p:blipFill>
          <a:blip r:embed="rId2"/>
          <a:stretch>
            <a:fillRect/>
          </a:stretch>
        </p:blipFill>
        <p:spPr>
          <a:xfrm>
            <a:off x="731520" y="1938528"/>
            <a:ext cx="411480" cy="411480"/>
          </a:xfrm>
          <a:prstGeom prst="rect">
            <a:avLst/>
          </a:prstGeom>
        </p:spPr>
      </p:pic>
      <p:sp>
        <p:nvSpPr>
          <p:cNvPr id="10" name="Text 6"/>
          <p:cNvSpPr/>
          <p:nvPr/>
        </p:nvSpPr>
        <p:spPr>
          <a:xfrm>
            <a:off x="1371600" y="1828800"/>
            <a:ext cx="7132320" cy="6400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Rédiger un guide utilisateur clair et complet pour SwissSound</a:t>
            </a:r>
            <a:endParaRPr lang="en-US" sz="1400" dirty="0"/>
          </a:p>
        </p:txBody>
      </p:sp>
      <p:sp>
        <p:nvSpPr>
          <p:cNvPr id="11" name="Shape 7"/>
          <p:cNvSpPr/>
          <p:nvPr/>
        </p:nvSpPr>
        <p:spPr>
          <a:xfrm>
            <a:off x="457200" y="2560320"/>
            <a:ext cx="8229600" cy="640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8"/>
          <p:cNvSpPr/>
          <p:nvPr/>
        </p:nvSpPr>
        <p:spPr>
          <a:xfrm>
            <a:off x="457200" y="2560320"/>
            <a:ext cx="73152" cy="640080"/>
          </a:xfrm>
          <a:prstGeom prst="rect">
            <a:avLst/>
          </a:prstGeom>
          <a:solidFill>
            <a:srgbClr val="6A1B9A"/>
          </a:solidFill>
          <a:ln/>
        </p:spPr>
      </p:sp>
      <p:pic>
        <p:nvPicPr>
          <p:cNvPr id="13" name="Image 2" descr="preencoded.png">    </p:cNvPr>
          <p:cNvPicPr>
            <a:picLocks noChangeAspect="1"/>
          </p:cNvPicPr>
          <p:nvPr/>
        </p:nvPicPr>
        <p:blipFill>
          <a:blip r:embed="rId3"/>
          <a:stretch>
            <a:fillRect/>
          </a:stretch>
        </p:blipFill>
        <p:spPr>
          <a:xfrm>
            <a:off x="731520" y="2670048"/>
            <a:ext cx="411480" cy="411480"/>
          </a:xfrm>
          <a:prstGeom prst="rect">
            <a:avLst/>
          </a:prstGeom>
        </p:spPr>
      </p:pic>
      <p:sp>
        <p:nvSpPr>
          <p:cNvPr id="14" name="Text 9"/>
          <p:cNvSpPr/>
          <p:nvPr/>
        </p:nvSpPr>
        <p:spPr>
          <a:xfrm>
            <a:off x="1371600" y="2560320"/>
            <a:ext cx="7132320" cy="6400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Créer des captures d'écran annotées pour chaque procédure</a:t>
            </a:r>
            <a:endParaRPr lang="en-US" sz="1400" dirty="0"/>
          </a:p>
        </p:txBody>
      </p:sp>
      <p:sp>
        <p:nvSpPr>
          <p:cNvPr id="15" name="Shape 10"/>
          <p:cNvSpPr/>
          <p:nvPr/>
        </p:nvSpPr>
        <p:spPr>
          <a:xfrm>
            <a:off x="457200" y="3291840"/>
            <a:ext cx="8229600" cy="640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6" name="Shape 11"/>
          <p:cNvSpPr/>
          <p:nvPr/>
        </p:nvSpPr>
        <p:spPr>
          <a:xfrm>
            <a:off x="457200" y="3291840"/>
            <a:ext cx="73152" cy="640080"/>
          </a:xfrm>
          <a:prstGeom prst="rect">
            <a:avLst/>
          </a:prstGeom>
          <a:solidFill>
            <a:srgbClr val="6A1B9A"/>
          </a:solidFill>
          <a:ln/>
        </p:spPr>
      </p:sp>
      <p:pic>
        <p:nvPicPr>
          <p:cNvPr id="17" name="Image 3" descr="preencoded.png">    </p:cNvPr>
          <p:cNvPicPr>
            <a:picLocks noChangeAspect="1"/>
          </p:cNvPicPr>
          <p:nvPr/>
        </p:nvPicPr>
        <p:blipFill>
          <a:blip r:embed="rId4"/>
          <a:stretch>
            <a:fillRect/>
          </a:stretch>
        </p:blipFill>
        <p:spPr>
          <a:xfrm>
            <a:off x="731520" y="3401568"/>
            <a:ext cx="411480" cy="411480"/>
          </a:xfrm>
          <a:prstGeom prst="rect">
            <a:avLst/>
          </a:prstGeom>
        </p:spPr>
      </p:pic>
      <p:sp>
        <p:nvSpPr>
          <p:cNvPr id="18" name="Text 12"/>
          <p:cNvSpPr/>
          <p:nvPr/>
        </p:nvSpPr>
        <p:spPr>
          <a:xfrm>
            <a:off x="1371600" y="3291840"/>
            <a:ext cx="7132320" cy="6400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Produire une FAQ et un guide de démarrage rapide</a:t>
            </a:r>
            <a:endParaRPr lang="en-US" sz="1400" dirty="0"/>
          </a:p>
        </p:txBody>
      </p:sp>
      <p:sp>
        <p:nvSpPr>
          <p:cNvPr id="19" name="Shape 13"/>
          <p:cNvSpPr/>
          <p:nvPr/>
        </p:nvSpPr>
        <p:spPr>
          <a:xfrm>
            <a:off x="457200" y="4023360"/>
            <a:ext cx="8229600" cy="640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0" name="Shape 14"/>
          <p:cNvSpPr/>
          <p:nvPr/>
        </p:nvSpPr>
        <p:spPr>
          <a:xfrm>
            <a:off x="457200" y="4023360"/>
            <a:ext cx="73152" cy="640080"/>
          </a:xfrm>
          <a:prstGeom prst="rect">
            <a:avLst/>
          </a:prstGeom>
          <a:solidFill>
            <a:srgbClr val="6A1B9A"/>
          </a:solidFill>
          <a:ln/>
        </p:spPr>
      </p:sp>
      <p:pic>
        <p:nvPicPr>
          <p:cNvPr id="21" name="Image 4" descr="preencoded.png">    </p:cNvPr>
          <p:cNvPicPr>
            <a:picLocks noChangeAspect="1"/>
          </p:cNvPicPr>
          <p:nvPr/>
        </p:nvPicPr>
        <p:blipFill>
          <a:blip r:embed="rId5"/>
          <a:stretch>
            <a:fillRect/>
          </a:stretch>
        </p:blipFill>
        <p:spPr>
          <a:xfrm>
            <a:off x="731520" y="4133088"/>
            <a:ext cx="411480" cy="411480"/>
          </a:xfrm>
          <a:prstGeom prst="rect">
            <a:avLst/>
          </a:prstGeom>
        </p:spPr>
      </p:pic>
      <p:sp>
        <p:nvSpPr>
          <p:cNvPr id="22" name="Text 15"/>
          <p:cNvSpPr/>
          <p:nvPr/>
        </p:nvSpPr>
        <p:spPr>
          <a:xfrm>
            <a:off x="1371600" y="4023360"/>
            <a:ext cx="7132320" cy="6400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D3 : Évaluer les améliorations nécessaires pour l'efficacité continue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6A1B9A"/>
                </a:solidFill>
                <a:latin typeface="Trebuchet MS" pitchFamily="34" charset="0"/>
                <a:ea typeface="Trebuchet MS" pitchFamily="34" charset="-122"/>
                <a:cs typeface="Trebuchet MS" pitchFamily="34" charset="-120"/>
              </a:rPr>
              <a:t>Documentation technique vs utilisateur</a:t>
            </a:r>
            <a:endParaRPr lang="en-US" sz="2600" dirty="0"/>
          </a:p>
        </p:txBody>
      </p:sp>
      <p:sp>
        <p:nvSpPr>
          <p:cNvPr id="3" name="Shape 1"/>
          <p:cNvSpPr/>
          <p:nvPr/>
        </p:nvSpPr>
        <p:spPr>
          <a:xfrm>
            <a:off x="457200" y="1005840"/>
            <a:ext cx="3931920" cy="3474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4" name="Shape 2"/>
          <p:cNvSpPr/>
          <p:nvPr/>
        </p:nvSpPr>
        <p:spPr>
          <a:xfrm>
            <a:off x="457200" y="1005840"/>
            <a:ext cx="3931920" cy="502920"/>
          </a:xfrm>
          <a:prstGeom prst="rect">
            <a:avLst/>
          </a:prstGeom>
          <a:solidFill>
            <a:srgbClr val="1565C0"/>
          </a:solidFill>
          <a:ln/>
        </p:spPr>
      </p:sp>
      <p:pic>
        <p:nvPicPr>
          <p:cNvPr id="5" name="Image 0" descr="preencoded.png">    </p:cNvPr>
          <p:cNvPicPr>
            <a:picLocks noChangeAspect="1"/>
          </p:cNvPicPr>
          <p:nvPr/>
        </p:nvPicPr>
        <p:blipFill>
          <a:blip r:embed="rId1"/>
          <a:stretch>
            <a:fillRect/>
          </a:stretch>
        </p:blipFill>
        <p:spPr>
          <a:xfrm>
            <a:off x="640080" y="1051560"/>
            <a:ext cx="365760" cy="365760"/>
          </a:xfrm>
          <a:prstGeom prst="rect">
            <a:avLst/>
          </a:prstGeom>
        </p:spPr>
      </p:pic>
      <p:sp>
        <p:nvSpPr>
          <p:cNvPr id="6" name="Text 3"/>
          <p:cNvSpPr/>
          <p:nvPr/>
        </p:nvSpPr>
        <p:spPr>
          <a:xfrm>
            <a:off x="1097280" y="1005840"/>
            <a:ext cx="2743200" cy="50292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Doc TECHNIQUE</a:t>
            </a:r>
            <a:endParaRPr lang="en-US" sz="1600" dirty="0"/>
          </a:p>
        </p:txBody>
      </p:sp>
      <p:sp>
        <p:nvSpPr>
          <p:cNvPr id="7" name="Text 4"/>
          <p:cNvSpPr/>
          <p:nvPr/>
        </p:nvSpPr>
        <p:spPr>
          <a:xfrm>
            <a:off x="731520" y="1645920"/>
            <a:ext cx="3474720" cy="36576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Pour : développeurs, DBA</a:t>
            </a:r>
            <a:endParaRPr lang="en-US" sz="1200" dirty="0"/>
          </a:p>
        </p:txBody>
      </p:sp>
      <p:sp>
        <p:nvSpPr>
          <p:cNvPr id="8" name="Text 5"/>
          <p:cNvSpPr/>
          <p:nvPr/>
        </p:nvSpPr>
        <p:spPr>
          <a:xfrm>
            <a:off x="731520" y="2103120"/>
            <a:ext cx="3474720" cy="36576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DFD, flowcharts, architecture</a:t>
            </a:r>
            <a:endParaRPr lang="en-US" sz="1200" dirty="0"/>
          </a:p>
        </p:txBody>
      </p:sp>
      <p:sp>
        <p:nvSpPr>
          <p:cNvPr id="9" name="Text 6"/>
          <p:cNvSpPr/>
          <p:nvPr/>
        </p:nvSpPr>
        <p:spPr>
          <a:xfrm>
            <a:off x="731520" y="2560320"/>
            <a:ext cx="3474720" cy="36576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Dictionnaire de données</a:t>
            </a:r>
            <a:endParaRPr lang="en-US" sz="1200" dirty="0"/>
          </a:p>
        </p:txBody>
      </p:sp>
      <p:sp>
        <p:nvSpPr>
          <p:cNvPr id="10" name="Text 7"/>
          <p:cNvSpPr/>
          <p:nvPr/>
        </p:nvSpPr>
        <p:spPr>
          <a:xfrm>
            <a:off x="731520" y="3017520"/>
            <a:ext cx="3474720" cy="36576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Scripts SQL commentés</a:t>
            </a:r>
            <a:endParaRPr lang="en-US" sz="1200" dirty="0"/>
          </a:p>
        </p:txBody>
      </p:sp>
      <p:sp>
        <p:nvSpPr>
          <p:cNvPr id="11" name="Text 8"/>
          <p:cNvSpPr/>
          <p:nvPr/>
        </p:nvSpPr>
        <p:spPr>
          <a:xfrm>
            <a:off x="731520" y="3474720"/>
            <a:ext cx="3474720" cy="36576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Schéma réseau / serveur</a:t>
            </a:r>
            <a:endParaRPr lang="en-US" sz="1200" dirty="0"/>
          </a:p>
        </p:txBody>
      </p:sp>
      <p:sp>
        <p:nvSpPr>
          <p:cNvPr id="12" name="Text 9"/>
          <p:cNvSpPr/>
          <p:nvPr/>
        </p:nvSpPr>
        <p:spPr>
          <a:xfrm>
            <a:off x="731520" y="3931920"/>
            <a:ext cx="3474720" cy="36576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Procédures de maintenance</a:t>
            </a:r>
            <a:endParaRPr lang="en-US" sz="1200" dirty="0"/>
          </a:p>
        </p:txBody>
      </p:sp>
      <p:sp>
        <p:nvSpPr>
          <p:cNvPr id="13" name="Shape 10"/>
          <p:cNvSpPr/>
          <p:nvPr/>
        </p:nvSpPr>
        <p:spPr>
          <a:xfrm>
            <a:off x="4754880" y="1005840"/>
            <a:ext cx="3931920" cy="3474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4" name="Shape 11"/>
          <p:cNvSpPr/>
          <p:nvPr/>
        </p:nvSpPr>
        <p:spPr>
          <a:xfrm>
            <a:off x="4754880" y="1005840"/>
            <a:ext cx="3931920" cy="502920"/>
          </a:xfrm>
          <a:prstGeom prst="rect">
            <a:avLst/>
          </a:prstGeom>
          <a:solidFill>
            <a:srgbClr val="6A1B9A"/>
          </a:solidFill>
          <a:ln/>
        </p:spPr>
      </p:sp>
      <p:pic>
        <p:nvPicPr>
          <p:cNvPr id="15" name="Image 1" descr="preencoded.png">    </p:cNvPr>
          <p:cNvPicPr>
            <a:picLocks noChangeAspect="1"/>
          </p:cNvPicPr>
          <p:nvPr/>
        </p:nvPicPr>
        <p:blipFill>
          <a:blip r:embed="rId2"/>
          <a:stretch>
            <a:fillRect/>
          </a:stretch>
        </p:blipFill>
        <p:spPr>
          <a:xfrm>
            <a:off x="4937760" y="1051560"/>
            <a:ext cx="365760" cy="365760"/>
          </a:xfrm>
          <a:prstGeom prst="rect">
            <a:avLst/>
          </a:prstGeom>
        </p:spPr>
      </p:pic>
      <p:sp>
        <p:nvSpPr>
          <p:cNvPr id="16" name="Text 12"/>
          <p:cNvSpPr/>
          <p:nvPr/>
        </p:nvSpPr>
        <p:spPr>
          <a:xfrm>
            <a:off x="5394960" y="1005840"/>
            <a:ext cx="2743200" cy="50292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Doc UTILISATEUR</a:t>
            </a:r>
            <a:endParaRPr lang="en-US" sz="1600" dirty="0"/>
          </a:p>
        </p:txBody>
      </p:sp>
      <p:sp>
        <p:nvSpPr>
          <p:cNvPr id="17" name="Text 13"/>
          <p:cNvSpPr/>
          <p:nvPr/>
        </p:nvSpPr>
        <p:spPr>
          <a:xfrm>
            <a:off x="5029200" y="1645920"/>
            <a:ext cx="3474720" cy="365760"/>
          </a:xfrm>
          <a:prstGeom prst="rect">
            <a:avLst/>
          </a:prstGeom>
          <a:noFill/>
          <a:ln/>
        </p:spPr>
        <p:txBody>
          <a:bodyPr wrap="square" lIns="0" tIns="0" rIns="0" bIns="0"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Pour : utilisateurs finaux</a:t>
            </a:r>
            <a:endParaRPr lang="en-US" sz="1200" dirty="0"/>
          </a:p>
        </p:txBody>
      </p:sp>
      <p:sp>
        <p:nvSpPr>
          <p:cNvPr id="18" name="Text 14"/>
          <p:cNvSpPr/>
          <p:nvPr/>
        </p:nvSpPr>
        <p:spPr>
          <a:xfrm>
            <a:off x="5029200" y="2103120"/>
            <a:ext cx="3474720" cy="365760"/>
          </a:xfrm>
          <a:prstGeom prst="rect">
            <a:avLst/>
          </a:prstGeom>
          <a:noFill/>
          <a:ln/>
        </p:spPr>
        <p:txBody>
          <a:bodyPr wrap="square" lIns="0" tIns="0" rIns="0" bIns="0"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Guide pas à pas avec captures</a:t>
            </a:r>
            <a:endParaRPr lang="en-US" sz="1200" dirty="0"/>
          </a:p>
        </p:txBody>
      </p:sp>
      <p:sp>
        <p:nvSpPr>
          <p:cNvPr id="19" name="Text 15"/>
          <p:cNvSpPr/>
          <p:nvPr/>
        </p:nvSpPr>
        <p:spPr>
          <a:xfrm>
            <a:off x="5029200" y="2560320"/>
            <a:ext cx="3474720" cy="365760"/>
          </a:xfrm>
          <a:prstGeom prst="rect">
            <a:avLst/>
          </a:prstGeom>
          <a:noFill/>
          <a:ln/>
        </p:spPr>
        <p:txBody>
          <a:bodyPr wrap="square" lIns="0" tIns="0" rIns="0" bIns="0"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FAQ (questions fréquentes)</a:t>
            </a:r>
            <a:endParaRPr lang="en-US" sz="1200" dirty="0"/>
          </a:p>
        </p:txBody>
      </p:sp>
      <p:sp>
        <p:nvSpPr>
          <p:cNvPr id="20" name="Text 16"/>
          <p:cNvSpPr/>
          <p:nvPr/>
        </p:nvSpPr>
        <p:spPr>
          <a:xfrm>
            <a:off x="5029200" y="3017520"/>
            <a:ext cx="3474720" cy="365760"/>
          </a:xfrm>
          <a:prstGeom prst="rect">
            <a:avLst/>
          </a:prstGeom>
          <a:noFill/>
          <a:ln/>
        </p:spPr>
        <p:txBody>
          <a:bodyPr wrap="square" lIns="0" tIns="0" rIns="0" bIns="0"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Guide de démarrage rapide</a:t>
            </a:r>
            <a:endParaRPr lang="en-US" sz="1200" dirty="0"/>
          </a:p>
        </p:txBody>
      </p:sp>
      <p:sp>
        <p:nvSpPr>
          <p:cNvPr id="21" name="Text 17"/>
          <p:cNvSpPr/>
          <p:nvPr/>
        </p:nvSpPr>
        <p:spPr>
          <a:xfrm>
            <a:off x="5029200" y="3474720"/>
            <a:ext cx="3474720" cy="365760"/>
          </a:xfrm>
          <a:prstGeom prst="rect">
            <a:avLst/>
          </a:prstGeom>
          <a:noFill/>
          <a:ln/>
        </p:spPr>
        <p:txBody>
          <a:bodyPr wrap="square" lIns="0" tIns="0" rIns="0" bIns="0"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Description des menus/boutons</a:t>
            </a:r>
            <a:endParaRPr lang="en-US" sz="1200" dirty="0"/>
          </a:p>
        </p:txBody>
      </p:sp>
      <p:sp>
        <p:nvSpPr>
          <p:cNvPr id="22" name="Text 18"/>
          <p:cNvSpPr/>
          <p:nvPr/>
        </p:nvSpPr>
        <p:spPr>
          <a:xfrm>
            <a:off x="5029200" y="3931920"/>
            <a:ext cx="3474720" cy="365760"/>
          </a:xfrm>
          <a:prstGeom prst="rect">
            <a:avLst/>
          </a:prstGeom>
          <a:noFill/>
          <a:ln/>
        </p:spPr>
        <p:txBody>
          <a:bodyPr wrap="square" lIns="0" tIns="0" rIns="0" bIns="0"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Procédures courantes (CRUD)</a:t>
            </a:r>
            <a:endParaRPr lang="en-US" sz="1200" dirty="0"/>
          </a:p>
        </p:txBody>
      </p:sp>
      <p:sp>
        <p:nvSpPr>
          <p:cNvPr id="23" name="Shape 19"/>
          <p:cNvSpPr/>
          <p:nvPr/>
        </p:nvSpPr>
        <p:spPr>
          <a:xfrm>
            <a:off x="457200" y="4572000"/>
            <a:ext cx="8229600" cy="457200"/>
          </a:xfrm>
          <a:prstGeom prst="rect">
            <a:avLst/>
          </a:prstGeom>
          <a:solidFill>
            <a:srgbClr val="FFF3E0"/>
          </a:solidFill>
          <a:ln/>
        </p:spPr>
      </p:sp>
      <p:sp>
        <p:nvSpPr>
          <p:cNvPr id="24" name="Text 20"/>
          <p:cNvSpPr/>
          <p:nvPr/>
        </p:nvSpPr>
        <p:spPr>
          <a:xfrm>
            <a:off x="640080" y="4572000"/>
            <a:ext cx="7772400" cy="457200"/>
          </a:xfrm>
          <a:prstGeom prst="rect">
            <a:avLst/>
          </a:prstGeom>
          <a:noFill/>
          <a:ln/>
        </p:spPr>
        <p:txBody>
          <a:bodyPr wrap="square" lIns="0" tIns="0" rIns="0" bIns="0" rtlCol="0" anchor="ctr"/>
          <a:lstStyle/>
          <a:p>
            <a:pPr indent="0" marL="0">
              <a:buNone/>
            </a:pPr>
            <a:r>
              <a:rPr lang="en-US" sz="1300" dirty="0">
                <a:solidFill>
                  <a:srgbClr val="000000"/>
                </a:solidFill>
                <a:latin typeface="Calibri" pitchFamily="34" charset="0"/>
                <a:ea typeface="Calibri" pitchFamily="34" charset="-122"/>
                <a:cs typeface="Calibri" pitchFamily="34" charset="-120"/>
              </a:rPr>
              <a:t>💡 </a:t>
            </a:r>
            <a:pPr indent="0" marL="0">
              <a:buNone/>
            </a:pPr>
            <a:r>
              <a:rPr lang="en-US" sz="1300" b="1" dirty="0">
                <a:solidFill>
                  <a:srgbClr val="FF6F00"/>
                </a:solidFill>
                <a:latin typeface="Calibri" pitchFamily="34" charset="0"/>
                <a:ea typeface="Calibri" pitchFamily="34" charset="-122"/>
                <a:cs typeface="Calibri" pitchFamily="34" charset="-120"/>
              </a:rPr>
              <a:t>Module 19 = doc technique | Module 20 = doc utilisateur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6A1B9A"/>
                </a:solidFill>
                <a:latin typeface="Trebuchet MS" pitchFamily="34" charset="0"/>
                <a:ea typeface="Trebuchet MS" pitchFamily="34" charset="-122"/>
                <a:cs typeface="Trebuchet MS" pitchFamily="34" charset="-120"/>
              </a:rPr>
              <a:t>Structure d'un guide utilisateur</a:t>
            </a:r>
            <a:endParaRPr lang="en-US" sz="2600" dirty="0"/>
          </a:p>
        </p:txBody>
      </p:sp>
      <p:sp>
        <p:nvSpPr>
          <p:cNvPr id="3" name="Shape 1"/>
          <p:cNvSpPr/>
          <p:nvPr/>
        </p:nvSpPr>
        <p:spPr>
          <a:xfrm>
            <a:off x="457200" y="1005840"/>
            <a:ext cx="8229600" cy="475488"/>
          </a:xfrm>
          <a:prstGeom prst="rect">
            <a:avLst/>
          </a:prstGeom>
          <a:solidFill>
            <a:srgbClr val="E8F5E9"/>
          </a:solidFill>
          <a:ln/>
          <a:effectLst>
            <a:outerShdw sx="100000" sy="100000" kx="0" ky="0" algn="bl" rotWithShape="0" blurRad="50800" dist="25400" dir="8100000">
              <a:srgbClr val="000000">
                <a:alpha val="12000"/>
              </a:srgbClr>
            </a:outerShdw>
          </a:effectLst>
        </p:spPr>
      </p:sp>
      <p:sp>
        <p:nvSpPr>
          <p:cNvPr id="4" name="Shape 2"/>
          <p:cNvSpPr/>
          <p:nvPr/>
        </p:nvSpPr>
        <p:spPr>
          <a:xfrm>
            <a:off x="457200" y="1005840"/>
            <a:ext cx="475488" cy="475488"/>
          </a:xfrm>
          <a:prstGeom prst="rect">
            <a:avLst/>
          </a:prstGeom>
          <a:solidFill>
            <a:srgbClr val="6A1B9A"/>
          </a:solidFill>
          <a:ln/>
        </p:spPr>
      </p:sp>
      <p:sp>
        <p:nvSpPr>
          <p:cNvPr id="5" name="Text 3"/>
          <p:cNvSpPr/>
          <p:nvPr/>
        </p:nvSpPr>
        <p:spPr>
          <a:xfrm>
            <a:off x="457200" y="10058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1097280" y="100584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Page de garde</a:t>
            </a:r>
            <a:endParaRPr lang="en-US" sz="1400" dirty="0"/>
          </a:p>
        </p:txBody>
      </p:sp>
      <p:sp>
        <p:nvSpPr>
          <p:cNvPr id="7" name="Text 5"/>
          <p:cNvSpPr/>
          <p:nvPr/>
        </p:nvSpPr>
        <p:spPr>
          <a:xfrm>
            <a:off x="4114800" y="100584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Titre, version, date, auteur</a:t>
            </a:r>
            <a:endParaRPr lang="en-US" sz="1200" dirty="0"/>
          </a:p>
        </p:txBody>
      </p:sp>
      <p:sp>
        <p:nvSpPr>
          <p:cNvPr id="8" name="Shape 6"/>
          <p:cNvSpPr/>
          <p:nvPr/>
        </p:nvSpPr>
        <p:spPr>
          <a:xfrm>
            <a:off x="457200" y="1554480"/>
            <a:ext cx="8229600" cy="475488"/>
          </a:xfrm>
          <a:prstGeom prst="rect">
            <a:avLst/>
          </a:prstGeom>
          <a:solidFill>
            <a:srgbClr val="E3F2FD"/>
          </a:solidFill>
          <a:ln/>
          <a:effectLst>
            <a:outerShdw sx="100000" sy="100000" kx="0" ky="0" algn="bl" rotWithShape="0" blurRad="50800" dist="25400" dir="8100000">
              <a:srgbClr val="000000">
                <a:alpha val="12000"/>
              </a:srgbClr>
            </a:outerShdw>
          </a:effectLst>
        </p:spPr>
      </p:sp>
      <p:sp>
        <p:nvSpPr>
          <p:cNvPr id="9" name="Shape 7"/>
          <p:cNvSpPr/>
          <p:nvPr/>
        </p:nvSpPr>
        <p:spPr>
          <a:xfrm>
            <a:off x="457200" y="1554480"/>
            <a:ext cx="475488" cy="475488"/>
          </a:xfrm>
          <a:prstGeom prst="rect">
            <a:avLst/>
          </a:prstGeom>
          <a:solidFill>
            <a:srgbClr val="6A1B9A"/>
          </a:solidFill>
          <a:ln/>
        </p:spPr>
      </p:sp>
      <p:sp>
        <p:nvSpPr>
          <p:cNvPr id="10" name="Text 8"/>
          <p:cNvSpPr/>
          <p:nvPr/>
        </p:nvSpPr>
        <p:spPr>
          <a:xfrm>
            <a:off x="457200" y="15544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1" name="Text 9"/>
          <p:cNvSpPr/>
          <p:nvPr/>
        </p:nvSpPr>
        <p:spPr>
          <a:xfrm>
            <a:off x="1097280" y="155448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Table des matières</a:t>
            </a:r>
            <a:endParaRPr lang="en-US" sz="1400" dirty="0"/>
          </a:p>
        </p:txBody>
      </p:sp>
      <p:sp>
        <p:nvSpPr>
          <p:cNvPr id="12" name="Text 10"/>
          <p:cNvSpPr/>
          <p:nvPr/>
        </p:nvSpPr>
        <p:spPr>
          <a:xfrm>
            <a:off x="4114800" y="155448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Navigation rapide</a:t>
            </a:r>
            <a:endParaRPr lang="en-US" sz="1200" dirty="0"/>
          </a:p>
        </p:txBody>
      </p:sp>
      <p:sp>
        <p:nvSpPr>
          <p:cNvPr id="13" name="Shape 11"/>
          <p:cNvSpPr/>
          <p:nvPr/>
        </p:nvSpPr>
        <p:spPr>
          <a:xfrm>
            <a:off x="457200" y="2103120"/>
            <a:ext cx="8229600" cy="475488"/>
          </a:xfrm>
          <a:prstGeom prst="rect">
            <a:avLst/>
          </a:prstGeom>
          <a:solidFill>
            <a:srgbClr val="FFF3E0"/>
          </a:solidFill>
          <a:ln/>
          <a:effectLst>
            <a:outerShdw sx="100000" sy="100000" kx="0" ky="0" algn="bl" rotWithShape="0" blurRad="50800" dist="25400" dir="8100000">
              <a:srgbClr val="000000">
                <a:alpha val="12000"/>
              </a:srgbClr>
            </a:outerShdw>
          </a:effectLst>
        </p:spPr>
      </p:sp>
      <p:sp>
        <p:nvSpPr>
          <p:cNvPr id="14" name="Shape 12"/>
          <p:cNvSpPr/>
          <p:nvPr/>
        </p:nvSpPr>
        <p:spPr>
          <a:xfrm>
            <a:off x="457200" y="2103120"/>
            <a:ext cx="475488" cy="475488"/>
          </a:xfrm>
          <a:prstGeom prst="rect">
            <a:avLst/>
          </a:prstGeom>
          <a:solidFill>
            <a:srgbClr val="6A1B9A"/>
          </a:solidFill>
          <a:ln/>
        </p:spPr>
      </p:sp>
      <p:sp>
        <p:nvSpPr>
          <p:cNvPr id="15" name="Text 13"/>
          <p:cNvSpPr/>
          <p:nvPr/>
        </p:nvSpPr>
        <p:spPr>
          <a:xfrm>
            <a:off x="457200" y="21031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1097280" y="210312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Introduction</a:t>
            </a:r>
            <a:endParaRPr lang="en-US" sz="1400" dirty="0"/>
          </a:p>
        </p:txBody>
      </p:sp>
      <p:sp>
        <p:nvSpPr>
          <p:cNvPr id="17" name="Text 15"/>
          <p:cNvSpPr/>
          <p:nvPr/>
        </p:nvSpPr>
        <p:spPr>
          <a:xfrm>
            <a:off x="4114800" y="210312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À quoi sert le système, public cible</a:t>
            </a:r>
            <a:endParaRPr lang="en-US" sz="1200" dirty="0"/>
          </a:p>
        </p:txBody>
      </p:sp>
      <p:sp>
        <p:nvSpPr>
          <p:cNvPr id="18" name="Shape 16"/>
          <p:cNvSpPr/>
          <p:nvPr/>
        </p:nvSpPr>
        <p:spPr>
          <a:xfrm>
            <a:off x="457200" y="2651760"/>
            <a:ext cx="8229600" cy="475488"/>
          </a:xfrm>
          <a:prstGeom prst="rect">
            <a:avLst/>
          </a:prstGeom>
          <a:solidFill>
            <a:srgbClr val="F3E5F5"/>
          </a:solidFill>
          <a:ln/>
          <a:effectLst>
            <a:outerShdw sx="100000" sy="100000" kx="0" ky="0" algn="bl" rotWithShape="0" blurRad="50800" dist="25400" dir="8100000">
              <a:srgbClr val="000000">
                <a:alpha val="12000"/>
              </a:srgbClr>
            </a:outerShdw>
          </a:effectLst>
        </p:spPr>
      </p:sp>
      <p:sp>
        <p:nvSpPr>
          <p:cNvPr id="19" name="Shape 17"/>
          <p:cNvSpPr/>
          <p:nvPr/>
        </p:nvSpPr>
        <p:spPr>
          <a:xfrm>
            <a:off x="457200" y="2651760"/>
            <a:ext cx="475488" cy="475488"/>
          </a:xfrm>
          <a:prstGeom prst="rect">
            <a:avLst/>
          </a:prstGeom>
          <a:solidFill>
            <a:srgbClr val="6A1B9A"/>
          </a:solidFill>
          <a:ln/>
        </p:spPr>
      </p:sp>
      <p:sp>
        <p:nvSpPr>
          <p:cNvPr id="20" name="Text 18"/>
          <p:cNvSpPr/>
          <p:nvPr/>
        </p:nvSpPr>
        <p:spPr>
          <a:xfrm>
            <a:off x="457200" y="265176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1" name="Text 19"/>
          <p:cNvSpPr/>
          <p:nvPr/>
        </p:nvSpPr>
        <p:spPr>
          <a:xfrm>
            <a:off x="1097280" y="265176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Guide de démarrage</a:t>
            </a:r>
            <a:endParaRPr lang="en-US" sz="1400" dirty="0"/>
          </a:p>
        </p:txBody>
      </p:sp>
      <p:sp>
        <p:nvSpPr>
          <p:cNvPr id="22" name="Text 20"/>
          <p:cNvSpPr/>
          <p:nvPr/>
        </p:nvSpPr>
        <p:spPr>
          <a:xfrm>
            <a:off x="4114800" y="265176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Connexion, premier lancement, interface</a:t>
            </a:r>
            <a:endParaRPr lang="en-US" sz="1200" dirty="0"/>
          </a:p>
        </p:txBody>
      </p:sp>
      <p:sp>
        <p:nvSpPr>
          <p:cNvPr id="23" name="Shape 21"/>
          <p:cNvSpPr/>
          <p:nvPr/>
        </p:nvSpPr>
        <p:spPr>
          <a:xfrm>
            <a:off x="457200" y="3200400"/>
            <a:ext cx="8229600" cy="475488"/>
          </a:xfrm>
          <a:prstGeom prst="rect">
            <a:avLst/>
          </a:prstGeom>
          <a:solidFill>
            <a:srgbClr val="E8F5E9"/>
          </a:solidFill>
          <a:ln/>
          <a:effectLst>
            <a:outerShdw sx="100000" sy="100000" kx="0" ky="0" algn="bl" rotWithShape="0" blurRad="50800" dist="25400" dir="8100000">
              <a:srgbClr val="000000">
                <a:alpha val="12000"/>
              </a:srgbClr>
            </a:outerShdw>
          </a:effectLst>
        </p:spPr>
      </p:sp>
      <p:sp>
        <p:nvSpPr>
          <p:cNvPr id="24" name="Shape 22"/>
          <p:cNvSpPr/>
          <p:nvPr/>
        </p:nvSpPr>
        <p:spPr>
          <a:xfrm>
            <a:off x="457200" y="3200400"/>
            <a:ext cx="475488" cy="475488"/>
          </a:xfrm>
          <a:prstGeom prst="rect">
            <a:avLst/>
          </a:prstGeom>
          <a:solidFill>
            <a:srgbClr val="6A1B9A"/>
          </a:solidFill>
          <a:ln/>
        </p:spPr>
      </p:sp>
      <p:sp>
        <p:nvSpPr>
          <p:cNvPr id="25" name="Text 23"/>
          <p:cNvSpPr/>
          <p:nvPr/>
        </p:nvSpPr>
        <p:spPr>
          <a:xfrm>
            <a:off x="457200" y="32004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5</a:t>
            </a:r>
            <a:endParaRPr lang="en-US" sz="1600" dirty="0"/>
          </a:p>
        </p:txBody>
      </p:sp>
      <p:sp>
        <p:nvSpPr>
          <p:cNvPr id="26" name="Text 24"/>
          <p:cNvSpPr/>
          <p:nvPr/>
        </p:nvSpPr>
        <p:spPr>
          <a:xfrm>
            <a:off x="1097280" y="320040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Procédures</a:t>
            </a:r>
            <a:endParaRPr lang="en-US" sz="1400" dirty="0"/>
          </a:p>
        </p:txBody>
      </p:sp>
      <p:sp>
        <p:nvSpPr>
          <p:cNvPr id="27" name="Text 25"/>
          <p:cNvSpPr/>
          <p:nvPr/>
        </p:nvSpPr>
        <p:spPr>
          <a:xfrm>
            <a:off x="4114800" y="320040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Ajouter, modifier, supprimer, consulter</a:t>
            </a:r>
            <a:endParaRPr lang="en-US" sz="1200" dirty="0"/>
          </a:p>
        </p:txBody>
      </p:sp>
      <p:sp>
        <p:nvSpPr>
          <p:cNvPr id="28" name="Shape 26"/>
          <p:cNvSpPr/>
          <p:nvPr/>
        </p:nvSpPr>
        <p:spPr>
          <a:xfrm>
            <a:off x="457200" y="3749040"/>
            <a:ext cx="8229600" cy="475488"/>
          </a:xfrm>
          <a:prstGeom prst="rect">
            <a:avLst/>
          </a:prstGeom>
          <a:solidFill>
            <a:srgbClr val="E3F2FD"/>
          </a:solidFill>
          <a:ln/>
          <a:effectLst>
            <a:outerShdw sx="100000" sy="100000" kx="0" ky="0" algn="bl" rotWithShape="0" blurRad="50800" dist="25400" dir="8100000">
              <a:srgbClr val="000000">
                <a:alpha val="12000"/>
              </a:srgbClr>
            </a:outerShdw>
          </a:effectLst>
        </p:spPr>
      </p:sp>
      <p:sp>
        <p:nvSpPr>
          <p:cNvPr id="29" name="Shape 27"/>
          <p:cNvSpPr/>
          <p:nvPr/>
        </p:nvSpPr>
        <p:spPr>
          <a:xfrm>
            <a:off x="457200" y="3749040"/>
            <a:ext cx="475488" cy="475488"/>
          </a:xfrm>
          <a:prstGeom prst="rect">
            <a:avLst/>
          </a:prstGeom>
          <a:solidFill>
            <a:srgbClr val="6A1B9A"/>
          </a:solidFill>
          <a:ln/>
        </p:spPr>
      </p:sp>
      <p:sp>
        <p:nvSpPr>
          <p:cNvPr id="30" name="Text 28"/>
          <p:cNvSpPr/>
          <p:nvPr/>
        </p:nvSpPr>
        <p:spPr>
          <a:xfrm>
            <a:off x="457200" y="37490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6</a:t>
            </a:r>
            <a:endParaRPr lang="en-US" sz="1600" dirty="0"/>
          </a:p>
        </p:txBody>
      </p:sp>
      <p:sp>
        <p:nvSpPr>
          <p:cNvPr id="31" name="Text 29"/>
          <p:cNvSpPr/>
          <p:nvPr/>
        </p:nvSpPr>
        <p:spPr>
          <a:xfrm>
            <a:off x="1097280" y="374904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FAQ</a:t>
            </a:r>
            <a:endParaRPr lang="en-US" sz="1400" dirty="0"/>
          </a:p>
        </p:txBody>
      </p:sp>
      <p:sp>
        <p:nvSpPr>
          <p:cNvPr id="32" name="Text 30"/>
          <p:cNvSpPr/>
          <p:nvPr/>
        </p:nvSpPr>
        <p:spPr>
          <a:xfrm>
            <a:off x="4114800" y="374904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Questions fréquentes + solutions</a:t>
            </a:r>
            <a:endParaRPr lang="en-US" sz="1200" dirty="0"/>
          </a:p>
        </p:txBody>
      </p:sp>
      <p:sp>
        <p:nvSpPr>
          <p:cNvPr id="33" name="Shape 31"/>
          <p:cNvSpPr/>
          <p:nvPr/>
        </p:nvSpPr>
        <p:spPr>
          <a:xfrm>
            <a:off x="457200" y="4297680"/>
            <a:ext cx="8229600" cy="475488"/>
          </a:xfrm>
          <a:prstGeom prst="rect">
            <a:avLst/>
          </a:prstGeom>
          <a:solidFill>
            <a:srgbClr val="FFF3E0"/>
          </a:solidFill>
          <a:ln/>
          <a:effectLst>
            <a:outerShdw sx="100000" sy="100000" kx="0" ky="0" algn="bl" rotWithShape="0" blurRad="50800" dist="25400" dir="8100000">
              <a:srgbClr val="000000">
                <a:alpha val="12000"/>
              </a:srgbClr>
            </a:outerShdw>
          </a:effectLst>
        </p:spPr>
      </p:sp>
      <p:sp>
        <p:nvSpPr>
          <p:cNvPr id="34" name="Shape 32"/>
          <p:cNvSpPr/>
          <p:nvPr/>
        </p:nvSpPr>
        <p:spPr>
          <a:xfrm>
            <a:off x="457200" y="4297680"/>
            <a:ext cx="475488" cy="475488"/>
          </a:xfrm>
          <a:prstGeom prst="rect">
            <a:avLst/>
          </a:prstGeom>
          <a:solidFill>
            <a:srgbClr val="6A1B9A"/>
          </a:solidFill>
          <a:ln/>
        </p:spPr>
      </p:sp>
      <p:sp>
        <p:nvSpPr>
          <p:cNvPr id="35" name="Text 33"/>
          <p:cNvSpPr/>
          <p:nvPr/>
        </p:nvSpPr>
        <p:spPr>
          <a:xfrm>
            <a:off x="457200" y="42976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7</a:t>
            </a:r>
            <a:endParaRPr lang="en-US" sz="1600" dirty="0"/>
          </a:p>
        </p:txBody>
      </p:sp>
      <p:sp>
        <p:nvSpPr>
          <p:cNvPr id="36" name="Text 34"/>
          <p:cNvSpPr/>
          <p:nvPr/>
        </p:nvSpPr>
        <p:spPr>
          <a:xfrm>
            <a:off x="1097280" y="4297680"/>
            <a:ext cx="2743200" cy="475488"/>
          </a:xfrm>
          <a:prstGeom prst="rect">
            <a:avLst/>
          </a:prstGeom>
          <a:noFill/>
          <a:ln/>
        </p:spPr>
        <p:txBody>
          <a:bodyPr wrap="square" lIns="0" tIns="0" rIns="0" bIns="0" rtlCol="0" anchor="ctr"/>
          <a:lstStyle/>
          <a:p>
            <a:pPr indent="0" marL="0">
              <a:buNone/>
            </a:pPr>
            <a:r>
              <a:rPr lang="en-US" sz="1400" b="1" dirty="0">
                <a:solidFill>
                  <a:srgbClr val="1A1A2E"/>
                </a:solidFill>
                <a:latin typeface="Trebuchet MS" pitchFamily="34" charset="0"/>
                <a:ea typeface="Trebuchet MS" pitchFamily="34" charset="-122"/>
                <a:cs typeface="Trebuchet MS" pitchFamily="34" charset="-120"/>
              </a:rPr>
              <a:t>Annexes</a:t>
            </a:r>
            <a:endParaRPr lang="en-US" sz="1400" dirty="0"/>
          </a:p>
        </p:txBody>
      </p:sp>
      <p:sp>
        <p:nvSpPr>
          <p:cNvPr id="37" name="Text 35"/>
          <p:cNvSpPr/>
          <p:nvPr/>
        </p:nvSpPr>
        <p:spPr>
          <a:xfrm>
            <a:off x="4114800" y="4297680"/>
            <a:ext cx="4389120" cy="47548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Glossaire, contacts support, raccourcis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6A1B9A"/>
                </a:solidFill>
                <a:latin typeface="Trebuchet MS" pitchFamily="34" charset="0"/>
                <a:ea typeface="Trebuchet MS" pitchFamily="34" charset="-122"/>
                <a:cs typeface="Trebuchet MS" pitchFamily="34" charset="-120"/>
              </a:rPr>
              <a:t>Captures d'écran annotées</a:t>
            </a:r>
            <a:endParaRPr lang="en-US" sz="2600" dirty="0"/>
          </a:p>
        </p:txBody>
      </p:sp>
      <p:sp>
        <p:nvSpPr>
          <p:cNvPr id="3" name="Text 1"/>
          <p:cNvSpPr/>
          <p:nvPr/>
        </p:nvSpPr>
        <p:spPr>
          <a:xfrm>
            <a:off x="457200" y="731520"/>
            <a:ext cx="822960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Les bonnes pratiques</a:t>
            </a:r>
            <a:endParaRPr lang="en-US" sz="1400" dirty="0"/>
          </a:p>
        </p:txBody>
      </p:sp>
      <p:sp>
        <p:nvSpPr>
          <p:cNvPr id="4" name="Shape 2"/>
          <p:cNvSpPr/>
          <p:nvPr/>
        </p:nvSpPr>
        <p:spPr>
          <a:xfrm>
            <a:off x="457200" y="1280160"/>
            <a:ext cx="3931920" cy="411480"/>
          </a:xfrm>
          <a:prstGeom prst="rect">
            <a:avLst/>
          </a:prstGeom>
          <a:solidFill>
            <a:srgbClr val="2E7D32"/>
          </a:solidFill>
          <a:ln/>
        </p:spPr>
      </p:sp>
      <p:sp>
        <p:nvSpPr>
          <p:cNvPr id="5" name="Text 3"/>
          <p:cNvSpPr/>
          <p:nvPr/>
        </p:nvSpPr>
        <p:spPr>
          <a:xfrm>
            <a:off x="457200" y="128016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 À FAIRE</a:t>
            </a:r>
            <a:endParaRPr lang="en-US" sz="1400" dirty="0"/>
          </a:p>
        </p:txBody>
      </p:sp>
      <p:sp>
        <p:nvSpPr>
          <p:cNvPr id="6" name="Shape 4"/>
          <p:cNvSpPr/>
          <p:nvPr/>
        </p:nvSpPr>
        <p:spPr>
          <a:xfrm>
            <a:off x="4754880" y="1280160"/>
            <a:ext cx="3931920" cy="411480"/>
          </a:xfrm>
          <a:prstGeom prst="rect">
            <a:avLst/>
          </a:prstGeom>
          <a:solidFill>
            <a:srgbClr val="C62828"/>
          </a:solidFill>
          <a:ln/>
        </p:spPr>
      </p:sp>
      <p:sp>
        <p:nvSpPr>
          <p:cNvPr id="7" name="Text 5"/>
          <p:cNvSpPr/>
          <p:nvPr/>
        </p:nvSpPr>
        <p:spPr>
          <a:xfrm>
            <a:off x="4754880" y="128016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 À ÉVITER</a:t>
            </a:r>
            <a:endParaRPr lang="en-US" sz="1400" dirty="0"/>
          </a:p>
        </p:txBody>
      </p:sp>
      <p:sp>
        <p:nvSpPr>
          <p:cNvPr id="8" name="Shape 6"/>
          <p:cNvSpPr/>
          <p:nvPr/>
        </p:nvSpPr>
        <p:spPr>
          <a:xfrm>
            <a:off x="457200" y="1783080"/>
            <a:ext cx="3931920" cy="475488"/>
          </a:xfrm>
          <a:prstGeom prst="rect">
            <a:avLst/>
          </a:prstGeom>
          <a:solidFill>
            <a:srgbClr val="E8F5E9"/>
          </a:solidFill>
          <a:ln/>
        </p:spPr>
      </p:sp>
      <p:sp>
        <p:nvSpPr>
          <p:cNvPr id="9" name="Text 7"/>
          <p:cNvSpPr/>
          <p:nvPr/>
        </p:nvSpPr>
        <p:spPr>
          <a:xfrm>
            <a:off x="640080" y="178308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Numéroter chaque action sur la capture</a:t>
            </a:r>
            <a:endParaRPr lang="en-US" sz="1200" dirty="0"/>
          </a:p>
        </p:txBody>
      </p:sp>
      <p:sp>
        <p:nvSpPr>
          <p:cNvPr id="10" name="Shape 8"/>
          <p:cNvSpPr/>
          <p:nvPr/>
        </p:nvSpPr>
        <p:spPr>
          <a:xfrm>
            <a:off x="4754880" y="1783080"/>
            <a:ext cx="3931920" cy="475488"/>
          </a:xfrm>
          <a:prstGeom prst="rect">
            <a:avLst/>
          </a:prstGeom>
          <a:solidFill>
            <a:srgbClr val="FFEBEE"/>
          </a:solidFill>
          <a:ln/>
        </p:spPr>
      </p:sp>
      <p:sp>
        <p:nvSpPr>
          <p:cNvPr id="11" name="Text 9"/>
          <p:cNvSpPr/>
          <p:nvPr/>
        </p:nvSpPr>
        <p:spPr>
          <a:xfrm>
            <a:off x="4937760" y="178308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Capture sans annotation</a:t>
            </a:r>
            <a:endParaRPr lang="en-US" sz="1200" dirty="0"/>
          </a:p>
        </p:txBody>
      </p:sp>
      <p:sp>
        <p:nvSpPr>
          <p:cNvPr id="12" name="Shape 10"/>
          <p:cNvSpPr/>
          <p:nvPr/>
        </p:nvSpPr>
        <p:spPr>
          <a:xfrm>
            <a:off x="457200" y="2331720"/>
            <a:ext cx="3931920" cy="475488"/>
          </a:xfrm>
          <a:prstGeom prst="rect">
            <a:avLst/>
          </a:prstGeom>
          <a:solidFill>
            <a:srgbClr val="E8F5E9"/>
          </a:solidFill>
          <a:ln/>
        </p:spPr>
      </p:sp>
      <p:sp>
        <p:nvSpPr>
          <p:cNvPr id="13" name="Text 11"/>
          <p:cNvSpPr/>
          <p:nvPr/>
        </p:nvSpPr>
        <p:spPr>
          <a:xfrm>
            <a:off x="640080" y="233172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Entourer le bouton/champ concerné</a:t>
            </a:r>
            <a:endParaRPr lang="en-US" sz="1200" dirty="0"/>
          </a:p>
        </p:txBody>
      </p:sp>
      <p:sp>
        <p:nvSpPr>
          <p:cNvPr id="14" name="Shape 12"/>
          <p:cNvSpPr/>
          <p:nvPr/>
        </p:nvSpPr>
        <p:spPr>
          <a:xfrm>
            <a:off x="4754880" y="2331720"/>
            <a:ext cx="3931920" cy="475488"/>
          </a:xfrm>
          <a:prstGeom prst="rect">
            <a:avLst/>
          </a:prstGeom>
          <a:solidFill>
            <a:srgbClr val="FFEBEE"/>
          </a:solidFill>
          <a:ln/>
        </p:spPr>
      </p:sp>
      <p:sp>
        <p:nvSpPr>
          <p:cNvPr id="15" name="Text 13"/>
          <p:cNvSpPr/>
          <p:nvPr/>
        </p:nvSpPr>
        <p:spPr>
          <a:xfrm>
            <a:off x="4937760" y="233172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Capture de tout l'écran sans focus</a:t>
            </a:r>
            <a:endParaRPr lang="en-US" sz="1200" dirty="0"/>
          </a:p>
        </p:txBody>
      </p:sp>
      <p:sp>
        <p:nvSpPr>
          <p:cNvPr id="16" name="Shape 14"/>
          <p:cNvSpPr/>
          <p:nvPr/>
        </p:nvSpPr>
        <p:spPr>
          <a:xfrm>
            <a:off x="457200" y="2880360"/>
            <a:ext cx="3931920" cy="475488"/>
          </a:xfrm>
          <a:prstGeom prst="rect">
            <a:avLst/>
          </a:prstGeom>
          <a:solidFill>
            <a:srgbClr val="E8F5E9"/>
          </a:solidFill>
          <a:ln/>
        </p:spPr>
      </p:sp>
      <p:sp>
        <p:nvSpPr>
          <p:cNvPr id="17" name="Text 15"/>
          <p:cNvSpPr/>
          <p:nvPr/>
        </p:nvSpPr>
        <p:spPr>
          <a:xfrm>
            <a:off x="640080" y="288036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Ajouter une légende sous la capture</a:t>
            </a:r>
            <a:endParaRPr lang="en-US" sz="1200" dirty="0"/>
          </a:p>
        </p:txBody>
      </p:sp>
      <p:sp>
        <p:nvSpPr>
          <p:cNvPr id="18" name="Shape 16"/>
          <p:cNvSpPr/>
          <p:nvPr/>
        </p:nvSpPr>
        <p:spPr>
          <a:xfrm>
            <a:off x="4754880" y="2880360"/>
            <a:ext cx="3931920" cy="475488"/>
          </a:xfrm>
          <a:prstGeom prst="rect">
            <a:avLst/>
          </a:prstGeom>
          <a:solidFill>
            <a:srgbClr val="FFEBEE"/>
          </a:solidFill>
          <a:ln/>
        </p:spPr>
      </p:sp>
      <p:sp>
        <p:nvSpPr>
          <p:cNvPr id="19" name="Text 17"/>
          <p:cNvSpPr/>
          <p:nvPr/>
        </p:nvSpPr>
        <p:spPr>
          <a:xfrm>
            <a:off x="4937760" y="288036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Capture sans explication textuelle</a:t>
            </a:r>
            <a:endParaRPr lang="en-US" sz="1200" dirty="0"/>
          </a:p>
        </p:txBody>
      </p:sp>
      <p:sp>
        <p:nvSpPr>
          <p:cNvPr id="20" name="Shape 18"/>
          <p:cNvSpPr/>
          <p:nvPr/>
        </p:nvSpPr>
        <p:spPr>
          <a:xfrm>
            <a:off x="457200" y="3429000"/>
            <a:ext cx="3931920" cy="475488"/>
          </a:xfrm>
          <a:prstGeom prst="rect">
            <a:avLst/>
          </a:prstGeom>
          <a:solidFill>
            <a:srgbClr val="E8F5E9"/>
          </a:solidFill>
          <a:ln/>
        </p:spPr>
      </p:sp>
      <p:sp>
        <p:nvSpPr>
          <p:cNvPr id="21" name="Text 19"/>
          <p:cNvSpPr/>
          <p:nvPr/>
        </p:nvSpPr>
        <p:spPr>
          <a:xfrm>
            <a:off x="640080" y="342900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Utiliser des flèches pour guider l'œil</a:t>
            </a:r>
            <a:endParaRPr lang="en-US" sz="1200" dirty="0"/>
          </a:p>
        </p:txBody>
      </p:sp>
      <p:sp>
        <p:nvSpPr>
          <p:cNvPr id="22" name="Shape 20"/>
          <p:cNvSpPr/>
          <p:nvPr/>
        </p:nvSpPr>
        <p:spPr>
          <a:xfrm>
            <a:off x="4754880" y="3429000"/>
            <a:ext cx="3931920" cy="475488"/>
          </a:xfrm>
          <a:prstGeom prst="rect">
            <a:avLst/>
          </a:prstGeom>
          <a:solidFill>
            <a:srgbClr val="FFEBEE"/>
          </a:solidFill>
          <a:ln/>
        </p:spPr>
      </p:sp>
      <p:sp>
        <p:nvSpPr>
          <p:cNvPr id="23" name="Text 21"/>
          <p:cNvSpPr/>
          <p:nvPr/>
        </p:nvSpPr>
        <p:spPr>
          <a:xfrm>
            <a:off x="4937760" y="342900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Texte trop petit ou illisible</a:t>
            </a:r>
            <a:endParaRPr lang="en-US" sz="1200" dirty="0"/>
          </a:p>
        </p:txBody>
      </p:sp>
      <p:sp>
        <p:nvSpPr>
          <p:cNvPr id="24" name="Shape 22"/>
          <p:cNvSpPr/>
          <p:nvPr/>
        </p:nvSpPr>
        <p:spPr>
          <a:xfrm>
            <a:off x="457200" y="3977640"/>
            <a:ext cx="3931920" cy="475488"/>
          </a:xfrm>
          <a:prstGeom prst="rect">
            <a:avLst/>
          </a:prstGeom>
          <a:solidFill>
            <a:srgbClr val="E8F5E9"/>
          </a:solidFill>
          <a:ln/>
        </p:spPr>
      </p:sp>
      <p:sp>
        <p:nvSpPr>
          <p:cNvPr id="25" name="Text 23"/>
          <p:cNvSpPr/>
          <p:nvPr/>
        </p:nvSpPr>
        <p:spPr>
          <a:xfrm>
            <a:off x="640080" y="397764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Masquer les données sensibles (emails...)</a:t>
            </a:r>
            <a:endParaRPr lang="en-US" sz="1200" dirty="0"/>
          </a:p>
        </p:txBody>
      </p:sp>
      <p:sp>
        <p:nvSpPr>
          <p:cNvPr id="26" name="Shape 24"/>
          <p:cNvSpPr/>
          <p:nvPr/>
        </p:nvSpPr>
        <p:spPr>
          <a:xfrm>
            <a:off x="4754880" y="3977640"/>
            <a:ext cx="3931920" cy="475488"/>
          </a:xfrm>
          <a:prstGeom prst="rect">
            <a:avLst/>
          </a:prstGeom>
          <a:solidFill>
            <a:srgbClr val="FFEBEE"/>
          </a:solidFill>
          <a:ln/>
        </p:spPr>
      </p:sp>
      <p:sp>
        <p:nvSpPr>
          <p:cNvPr id="27" name="Text 25"/>
          <p:cNvSpPr/>
          <p:nvPr/>
        </p:nvSpPr>
        <p:spPr>
          <a:xfrm>
            <a:off x="4937760" y="3977640"/>
            <a:ext cx="3657600" cy="47548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Données personnelles visibles (RGPD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6A1B9A"/>
                </a:solidFill>
                <a:latin typeface="Trebuchet MS" pitchFamily="34" charset="0"/>
                <a:ea typeface="Trebuchet MS" pitchFamily="34" charset="-122"/>
                <a:cs typeface="Trebuchet MS" pitchFamily="34" charset="-120"/>
              </a:rPr>
              <a:t>Exemple : Procédure « Ajouter un artiste »</a:t>
            </a:r>
            <a:endParaRPr lang="en-US" sz="2400" dirty="0"/>
          </a:p>
        </p:txBody>
      </p:sp>
      <p:sp>
        <p:nvSpPr>
          <p:cNvPr id="3" name="Shape 1"/>
          <p:cNvSpPr/>
          <p:nvPr/>
        </p:nvSpPr>
        <p:spPr>
          <a:xfrm>
            <a:off x="457200" y="1005840"/>
            <a:ext cx="8229600" cy="457200"/>
          </a:xfrm>
          <a:prstGeom prst="rect">
            <a:avLst/>
          </a:prstGeom>
          <a:solidFill>
            <a:srgbClr val="F3E5F5"/>
          </a:solidFill>
          <a:ln/>
        </p:spPr>
      </p:sp>
      <p:sp>
        <p:nvSpPr>
          <p:cNvPr id="4" name="Text 2"/>
          <p:cNvSpPr/>
          <p:nvPr/>
        </p:nvSpPr>
        <p:spPr>
          <a:xfrm>
            <a:off x="731520" y="1005840"/>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1. Ouvrir HeidiSQL → Se connecter (hôte: localhost, utilisateur: reception)</a:t>
            </a:r>
            <a:endParaRPr lang="en-US" sz="1300" dirty="0"/>
          </a:p>
        </p:txBody>
      </p:sp>
      <p:sp>
        <p:nvSpPr>
          <p:cNvPr id="5" name="Shape 3"/>
          <p:cNvSpPr/>
          <p:nvPr/>
        </p:nvSpPr>
        <p:spPr>
          <a:xfrm>
            <a:off x="457200" y="1536192"/>
            <a:ext cx="8229600" cy="457200"/>
          </a:xfrm>
          <a:prstGeom prst="rect">
            <a:avLst/>
          </a:prstGeom>
          <a:solidFill>
            <a:srgbClr val="FFFFFF"/>
          </a:solidFill>
          <a:ln/>
        </p:spPr>
      </p:sp>
      <p:sp>
        <p:nvSpPr>
          <p:cNvPr id="6" name="Text 4"/>
          <p:cNvSpPr/>
          <p:nvPr/>
        </p:nvSpPr>
        <p:spPr>
          <a:xfrm>
            <a:off x="731520" y="1536192"/>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2. Sélectionner la base 'swisssound' dans le panneau gauche</a:t>
            </a:r>
            <a:endParaRPr lang="en-US" sz="1300" dirty="0"/>
          </a:p>
        </p:txBody>
      </p:sp>
      <p:sp>
        <p:nvSpPr>
          <p:cNvPr id="7" name="Shape 5"/>
          <p:cNvSpPr/>
          <p:nvPr/>
        </p:nvSpPr>
        <p:spPr>
          <a:xfrm>
            <a:off x="457200" y="2066544"/>
            <a:ext cx="8229600" cy="457200"/>
          </a:xfrm>
          <a:prstGeom prst="rect">
            <a:avLst/>
          </a:prstGeom>
          <a:solidFill>
            <a:srgbClr val="F3E5F5"/>
          </a:solidFill>
          <a:ln/>
        </p:spPr>
      </p:sp>
      <p:sp>
        <p:nvSpPr>
          <p:cNvPr id="8" name="Text 6"/>
          <p:cNvSpPr/>
          <p:nvPr/>
        </p:nvSpPr>
        <p:spPr>
          <a:xfrm>
            <a:off x="731520" y="2066544"/>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3. Onglet 'Requête' → Nouveau (Ctrl+T)</a:t>
            </a:r>
            <a:endParaRPr lang="en-US" sz="1300" dirty="0"/>
          </a:p>
        </p:txBody>
      </p:sp>
      <p:sp>
        <p:nvSpPr>
          <p:cNvPr id="9" name="Shape 7"/>
          <p:cNvSpPr/>
          <p:nvPr/>
        </p:nvSpPr>
        <p:spPr>
          <a:xfrm>
            <a:off x="457200" y="2596896"/>
            <a:ext cx="8229600" cy="457200"/>
          </a:xfrm>
          <a:prstGeom prst="rect">
            <a:avLst/>
          </a:prstGeom>
          <a:solidFill>
            <a:srgbClr val="FFFFFF"/>
          </a:solidFill>
          <a:ln/>
        </p:spPr>
      </p:sp>
      <p:sp>
        <p:nvSpPr>
          <p:cNvPr id="10" name="Text 8"/>
          <p:cNvSpPr/>
          <p:nvPr/>
        </p:nvSpPr>
        <p:spPr>
          <a:xfrm>
            <a:off x="731520" y="2596896"/>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4. Saisir : INSERT INTO artiste (nom, prenom, email...) VALUES (...);</a:t>
            </a:r>
            <a:endParaRPr lang="en-US" sz="1300" dirty="0"/>
          </a:p>
        </p:txBody>
      </p:sp>
      <p:sp>
        <p:nvSpPr>
          <p:cNvPr id="11" name="Shape 9"/>
          <p:cNvSpPr/>
          <p:nvPr/>
        </p:nvSpPr>
        <p:spPr>
          <a:xfrm>
            <a:off x="457200" y="3127248"/>
            <a:ext cx="8229600" cy="457200"/>
          </a:xfrm>
          <a:prstGeom prst="rect">
            <a:avLst/>
          </a:prstGeom>
          <a:solidFill>
            <a:srgbClr val="F3E5F5"/>
          </a:solidFill>
          <a:ln/>
        </p:spPr>
      </p:sp>
      <p:sp>
        <p:nvSpPr>
          <p:cNvPr id="12" name="Text 10"/>
          <p:cNvSpPr/>
          <p:nvPr/>
        </p:nvSpPr>
        <p:spPr>
          <a:xfrm>
            <a:off x="731520" y="3127248"/>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5. Cliquer 'Exécuter' (▶) ou F9</a:t>
            </a:r>
            <a:endParaRPr lang="en-US" sz="1300" dirty="0"/>
          </a:p>
        </p:txBody>
      </p:sp>
      <p:sp>
        <p:nvSpPr>
          <p:cNvPr id="13" name="Shape 11"/>
          <p:cNvSpPr/>
          <p:nvPr/>
        </p:nvSpPr>
        <p:spPr>
          <a:xfrm>
            <a:off x="457200" y="3657600"/>
            <a:ext cx="8229600" cy="457200"/>
          </a:xfrm>
          <a:prstGeom prst="rect">
            <a:avLst/>
          </a:prstGeom>
          <a:solidFill>
            <a:srgbClr val="FFFFFF"/>
          </a:solidFill>
          <a:ln/>
        </p:spPr>
      </p:sp>
      <p:sp>
        <p:nvSpPr>
          <p:cNvPr id="14" name="Text 12"/>
          <p:cNvSpPr/>
          <p:nvPr/>
        </p:nvSpPr>
        <p:spPr>
          <a:xfrm>
            <a:off x="731520" y="3657600"/>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6. Vérifier : '1 ligne(s) affectée(s)'</a:t>
            </a:r>
            <a:endParaRPr lang="en-US" sz="1300" dirty="0"/>
          </a:p>
        </p:txBody>
      </p:sp>
      <p:sp>
        <p:nvSpPr>
          <p:cNvPr id="15" name="Shape 13"/>
          <p:cNvSpPr/>
          <p:nvPr/>
        </p:nvSpPr>
        <p:spPr>
          <a:xfrm>
            <a:off x="457200" y="4187952"/>
            <a:ext cx="8229600" cy="457200"/>
          </a:xfrm>
          <a:prstGeom prst="rect">
            <a:avLst/>
          </a:prstGeom>
          <a:solidFill>
            <a:srgbClr val="F3E5F5"/>
          </a:solidFill>
          <a:ln/>
        </p:spPr>
      </p:sp>
      <p:sp>
        <p:nvSpPr>
          <p:cNvPr id="16" name="Text 14"/>
          <p:cNvSpPr/>
          <p:nvPr/>
        </p:nvSpPr>
        <p:spPr>
          <a:xfrm>
            <a:off x="731520" y="4187952"/>
            <a:ext cx="7772400"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7. Confirmer : SELECT * FROM artiste WHERE nom = '...';</a:t>
            </a:r>
            <a:endParaRPr lang="en-US" sz="1300" dirty="0"/>
          </a:p>
        </p:txBody>
      </p:sp>
      <p:sp>
        <p:nvSpPr>
          <p:cNvPr id="17" name="Shape 15"/>
          <p:cNvSpPr/>
          <p:nvPr/>
        </p:nvSpPr>
        <p:spPr>
          <a:xfrm>
            <a:off x="457200" y="4663440"/>
            <a:ext cx="8229600" cy="365760"/>
          </a:xfrm>
          <a:prstGeom prst="rect">
            <a:avLst/>
          </a:prstGeom>
          <a:solidFill>
            <a:srgbClr val="FFF3E0"/>
          </a:solidFill>
          <a:ln/>
        </p:spPr>
      </p:sp>
      <p:sp>
        <p:nvSpPr>
          <p:cNvPr id="18" name="Text 16"/>
          <p:cNvSpPr/>
          <p:nvPr/>
        </p:nvSpPr>
        <p:spPr>
          <a:xfrm>
            <a:off x="640080" y="4663440"/>
            <a:ext cx="7772400" cy="365760"/>
          </a:xfrm>
          <a:prstGeom prst="rect">
            <a:avLst/>
          </a:prstGeom>
          <a:noFill/>
          <a:ln/>
        </p:spPr>
        <p:txBody>
          <a:bodyPr wrap="square" lIns="0" tIns="0" rIns="0" bIns="0" rtlCol="0" anchor="ctr"/>
          <a:lstStyle/>
          <a:p>
            <a:pPr indent="0" marL="0">
              <a:buNone/>
            </a:pPr>
            <a:r>
              <a:rPr lang="en-US" sz="1200" b="1" dirty="0">
                <a:solidFill>
                  <a:srgbClr val="FF6F00"/>
                </a:solidFill>
                <a:latin typeface="Calibri" pitchFamily="34" charset="0"/>
                <a:ea typeface="Calibri" pitchFamily="34" charset="-122"/>
                <a:cs typeface="Calibri" pitchFamily="34" charset="-120"/>
              </a:rPr>
              <a:t>💡 Chaque étape devrait être accompagnée d'une capture d'écran annotée !</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6A1B9A"/>
                </a:solidFill>
                <a:latin typeface="Trebuchet MS" pitchFamily="34" charset="0"/>
                <a:ea typeface="Trebuchet MS" pitchFamily="34" charset="-122"/>
                <a:cs typeface="Trebuchet MS" pitchFamily="34" charset="-120"/>
              </a:rPr>
              <a:t>Créer une FAQ efficace</a:t>
            </a:r>
            <a:endParaRPr lang="en-US" sz="2600" dirty="0"/>
          </a:p>
        </p:txBody>
      </p:sp>
      <p:sp>
        <p:nvSpPr>
          <p:cNvPr id="3" name="Shape 1"/>
          <p:cNvSpPr/>
          <p:nvPr/>
        </p:nvSpPr>
        <p:spPr>
          <a:xfrm>
            <a:off x="457200" y="1005840"/>
            <a:ext cx="8229600" cy="914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4" name="Shape 2"/>
          <p:cNvSpPr/>
          <p:nvPr/>
        </p:nvSpPr>
        <p:spPr>
          <a:xfrm>
            <a:off x="457200" y="1005840"/>
            <a:ext cx="73152" cy="914400"/>
          </a:xfrm>
          <a:prstGeom prst="rect">
            <a:avLst/>
          </a:prstGeom>
          <a:solidFill>
            <a:srgbClr val="FF6F00"/>
          </a:solidFill>
          <a:ln/>
        </p:spPr>
      </p:sp>
      <p:sp>
        <p:nvSpPr>
          <p:cNvPr id="5" name="Text 3"/>
          <p:cNvSpPr/>
          <p:nvPr/>
        </p:nvSpPr>
        <p:spPr>
          <a:xfrm>
            <a:off x="731520" y="1051560"/>
            <a:ext cx="7772400" cy="365760"/>
          </a:xfrm>
          <a:prstGeom prst="rect">
            <a:avLst/>
          </a:prstGeom>
          <a:noFill/>
          <a:ln/>
        </p:spPr>
        <p:txBody>
          <a:bodyPr wrap="square" lIns="0" tIns="0" rIns="0" bIns="0" rtlCol="0" anchor="ctr"/>
          <a:lstStyle/>
          <a:p>
            <a:pPr indent="0" marL="0">
              <a:buNone/>
            </a:pPr>
            <a:r>
              <a:rPr lang="en-US" sz="1300" b="1" dirty="0">
                <a:solidFill>
                  <a:srgbClr val="FF6F00"/>
                </a:solidFill>
                <a:latin typeface="Calibri" pitchFamily="34" charset="0"/>
                <a:ea typeface="Calibri" pitchFamily="34" charset="-122"/>
                <a:cs typeface="Calibri" pitchFamily="34" charset="-120"/>
              </a:rPr>
              <a:t>Q : </a:t>
            </a:r>
            <a:pPr indent="0" marL="0">
              <a:buNone/>
            </a:pPr>
            <a:r>
              <a:rPr lang="en-US" sz="1300" b="1" dirty="0">
                <a:solidFill>
                  <a:srgbClr val="1A1A2E"/>
                </a:solidFill>
                <a:latin typeface="Calibri" pitchFamily="34" charset="0"/>
                <a:ea typeface="Calibri" pitchFamily="34" charset="-122"/>
                <a:cs typeface="Calibri" pitchFamily="34" charset="-120"/>
              </a:rPr>
              <a:t>Je n'arrive pas à me connecter à HeidiSQL</a:t>
            </a:r>
            <a:endParaRPr lang="en-US" sz="1300" dirty="0"/>
          </a:p>
        </p:txBody>
      </p:sp>
      <p:sp>
        <p:nvSpPr>
          <p:cNvPr id="6" name="Text 4"/>
          <p:cNvSpPr/>
          <p:nvPr/>
        </p:nvSpPr>
        <p:spPr>
          <a:xfrm>
            <a:off x="731520" y="1463040"/>
            <a:ext cx="7772400" cy="36576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R : </a:t>
            </a:r>
            <a:pPr indent="0" marL="0">
              <a:buNone/>
            </a:pPr>
            <a:r>
              <a:rPr lang="en-US" sz="1200" dirty="0">
                <a:solidFill>
                  <a:srgbClr val="6B7280"/>
                </a:solidFill>
                <a:latin typeface="Calibri" pitchFamily="34" charset="0"/>
                <a:ea typeface="Calibri" pitchFamily="34" charset="-122"/>
                <a:cs typeface="Calibri" pitchFamily="34" charset="-120"/>
              </a:rPr>
              <a:t>Vérifier : hôte (localhost), port (3306), identifiant et mot de passe. Voir section 4.1.</a:t>
            </a:r>
            <a:endParaRPr lang="en-US" sz="1200" dirty="0"/>
          </a:p>
        </p:txBody>
      </p:sp>
      <p:sp>
        <p:nvSpPr>
          <p:cNvPr id="7" name="Shape 5"/>
          <p:cNvSpPr/>
          <p:nvPr/>
        </p:nvSpPr>
        <p:spPr>
          <a:xfrm>
            <a:off x="457200" y="2011680"/>
            <a:ext cx="8229600" cy="914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457200" y="2011680"/>
            <a:ext cx="73152" cy="914400"/>
          </a:xfrm>
          <a:prstGeom prst="rect">
            <a:avLst/>
          </a:prstGeom>
          <a:solidFill>
            <a:srgbClr val="FF6F00"/>
          </a:solidFill>
          <a:ln/>
        </p:spPr>
      </p:sp>
      <p:sp>
        <p:nvSpPr>
          <p:cNvPr id="9" name="Text 7"/>
          <p:cNvSpPr/>
          <p:nvPr/>
        </p:nvSpPr>
        <p:spPr>
          <a:xfrm>
            <a:off x="731520" y="2057400"/>
            <a:ext cx="7772400" cy="365760"/>
          </a:xfrm>
          <a:prstGeom prst="rect">
            <a:avLst/>
          </a:prstGeom>
          <a:noFill/>
          <a:ln/>
        </p:spPr>
        <p:txBody>
          <a:bodyPr wrap="square" lIns="0" tIns="0" rIns="0" bIns="0" rtlCol="0" anchor="ctr"/>
          <a:lstStyle/>
          <a:p>
            <a:pPr indent="0" marL="0">
              <a:buNone/>
            </a:pPr>
            <a:r>
              <a:rPr lang="en-US" sz="1300" b="1" dirty="0">
                <a:solidFill>
                  <a:srgbClr val="FF6F00"/>
                </a:solidFill>
                <a:latin typeface="Calibri" pitchFamily="34" charset="0"/>
                <a:ea typeface="Calibri" pitchFamily="34" charset="-122"/>
                <a:cs typeface="Calibri" pitchFamily="34" charset="-120"/>
              </a:rPr>
              <a:t>Q : </a:t>
            </a:r>
            <a:pPr indent="0" marL="0">
              <a:buNone/>
            </a:pPr>
            <a:r>
              <a:rPr lang="en-US" sz="1300" b="1" dirty="0">
                <a:solidFill>
                  <a:srgbClr val="1A1A2E"/>
                </a:solidFill>
                <a:latin typeface="Calibri" pitchFamily="34" charset="0"/>
                <a:ea typeface="Calibri" pitchFamily="34" charset="-122"/>
                <a:cs typeface="Calibri" pitchFamily="34" charset="-120"/>
              </a:rPr>
              <a:t>Ma requête INSERT affiche une erreur de clé étrangère</a:t>
            </a:r>
            <a:endParaRPr lang="en-US" sz="1300" dirty="0"/>
          </a:p>
        </p:txBody>
      </p:sp>
      <p:sp>
        <p:nvSpPr>
          <p:cNvPr id="10" name="Text 8"/>
          <p:cNvSpPr/>
          <p:nvPr/>
        </p:nvSpPr>
        <p:spPr>
          <a:xfrm>
            <a:off x="731520" y="2468880"/>
            <a:ext cx="7772400" cy="36576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R : </a:t>
            </a:r>
            <a:pPr indent="0" marL="0">
              <a:buNone/>
            </a:pPr>
            <a:r>
              <a:rPr lang="en-US" sz="1200" dirty="0">
                <a:solidFill>
                  <a:srgbClr val="6B7280"/>
                </a:solidFill>
                <a:latin typeface="Calibri" pitchFamily="34" charset="0"/>
                <a:ea typeface="Calibri" pitchFamily="34" charset="-122"/>
                <a:cs typeface="Calibri" pitchFamily="34" charset="-120"/>
              </a:rPr>
              <a:t>L'artiste ou la salle référencé(e) n'existe pas encore. Insérer d'abord les données parentes.</a:t>
            </a:r>
            <a:endParaRPr lang="en-US" sz="1200" dirty="0"/>
          </a:p>
        </p:txBody>
      </p:sp>
      <p:sp>
        <p:nvSpPr>
          <p:cNvPr id="11" name="Shape 9"/>
          <p:cNvSpPr/>
          <p:nvPr/>
        </p:nvSpPr>
        <p:spPr>
          <a:xfrm>
            <a:off x="457200" y="3017520"/>
            <a:ext cx="8229600" cy="914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57200" y="3017520"/>
            <a:ext cx="73152" cy="914400"/>
          </a:xfrm>
          <a:prstGeom prst="rect">
            <a:avLst/>
          </a:prstGeom>
          <a:solidFill>
            <a:srgbClr val="FF6F00"/>
          </a:solidFill>
          <a:ln/>
        </p:spPr>
      </p:sp>
      <p:sp>
        <p:nvSpPr>
          <p:cNvPr id="13" name="Text 11"/>
          <p:cNvSpPr/>
          <p:nvPr/>
        </p:nvSpPr>
        <p:spPr>
          <a:xfrm>
            <a:off x="731520" y="3063240"/>
            <a:ext cx="7772400" cy="365760"/>
          </a:xfrm>
          <a:prstGeom prst="rect">
            <a:avLst/>
          </a:prstGeom>
          <a:noFill/>
          <a:ln/>
        </p:spPr>
        <p:txBody>
          <a:bodyPr wrap="square" lIns="0" tIns="0" rIns="0" bIns="0" rtlCol="0" anchor="ctr"/>
          <a:lstStyle/>
          <a:p>
            <a:pPr indent="0" marL="0">
              <a:buNone/>
            </a:pPr>
            <a:r>
              <a:rPr lang="en-US" sz="1300" b="1" dirty="0">
                <a:solidFill>
                  <a:srgbClr val="FF6F00"/>
                </a:solidFill>
                <a:latin typeface="Calibri" pitchFamily="34" charset="0"/>
                <a:ea typeface="Calibri" pitchFamily="34" charset="-122"/>
                <a:cs typeface="Calibri" pitchFamily="34" charset="-120"/>
              </a:rPr>
              <a:t>Q : </a:t>
            </a:r>
            <a:pPr indent="0" marL="0">
              <a:buNone/>
            </a:pPr>
            <a:r>
              <a:rPr lang="en-US" sz="1300" b="1" dirty="0">
                <a:solidFill>
                  <a:srgbClr val="1A1A2E"/>
                </a:solidFill>
                <a:latin typeface="Calibri" pitchFamily="34" charset="0"/>
                <a:ea typeface="Calibri" pitchFamily="34" charset="-122"/>
                <a:cs typeface="Calibri" pitchFamily="34" charset="-120"/>
              </a:rPr>
              <a:t>Comment exporter les résultats d'une requête ?</a:t>
            </a:r>
            <a:endParaRPr lang="en-US" sz="1300" dirty="0"/>
          </a:p>
        </p:txBody>
      </p:sp>
      <p:sp>
        <p:nvSpPr>
          <p:cNvPr id="14" name="Text 12"/>
          <p:cNvSpPr/>
          <p:nvPr/>
        </p:nvSpPr>
        <p:spPr>
          <a:xfrm>
            <a:off x="731520" y="3474720"/>
            <a:ext cx="7772400" cy="36576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R : </a:t>
            </a:r>
            <a:pPr indent="0" marL="0">
              <a:buNone/>
            </a:pPr>
            <a:r>
              <a:rPr lang="en-US" sz="1200" dirty="0">
                <a:solidFill>
                  <a:srgbClr val="6B7280"/>
                </a:solidFill>
                <a:latin typeface="Calibri" pitchFamily="34" charset="0"/>
                <a:ea typeface="Calibri" pitchFamily="34" charset="-122"/>
                <a:cs typeface="Calibri" pitchFamily="34" charset="-120"/>
              </a:rPr>
              <a:t>Onglet Résultats → Clic droit → Exporter la grille → Format CSV ou Excel.</a:t>
            </a:r>
            <a:endParaRPr lang="en-US" sz="1200" dirty="0"/>
          </a:p>
        </p:txBody>
      </p:sp>
      <p:sp>
        <p:nvSpPr>
          <p:cNvPr id="15" name="Shape 13"/>
          <p:cNvSpPr/>
          <p:nvPr/>
        </p:nvSpPr>
        <p:spPr>
          <a:xfrm>
            <a:off x="457200" y="4023360"/>
            <a:ext cx="8229600" cy="914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6" name="Shape 14"/>
          <p:cNvSpPr/>
          <p:nvPr/>
        </p:nvSpPr>
        <p:spPr>
          <a:xfrm>
            <a:off x="457200" y="4023360"/>
            <a:ext cx="73152" cy="914400"/>
          </a:xfrm>
          <a:prstGeom prst="rect">
            <a:avLst/>
          </a:prstGeom>
          <a:solidFill>
            <a:srgbClr val="FF6F00"/>
          </a:solidFill>
          <a:ln/>
        </p:spPr>
      </p:sp>
      <p:sp>
        <p:nvSpPr>
          <p:cNvPr id="17" name="Text 15"/>
          <p:cNvSpPr/>
          <p:nvPr/>
        </p:nvSpPr>
        <p:spPr>
          <a:xfrm>
            <a:off x="731520" y="4069080"/>
            <a:ext cx="7772400" cy="365760"/>
          </a:xfrm>
          <a:prstGeom prst="rect">
            <a:avLst/>
          </a:prstGeom>
          <a:noFill/>
          <a:ln/>
        </p:spPr>
        <p:txBody>
          <a:bodyPr wrap="square" lIns="0" tIns="0" rIns="0" bIns="0" rtlCol="0" anchor="ctr"/>
          <a:lstStyle/>
          <a:p>
            <a:pPr indent="0" marL="0">
              <a:buNone/>
            </a:pPr>
            <a:r>
              <a:rPr lang="en-US" sz="1300" b="1" dirty="0">
                <a:solidFill>
                  <a:srgbClr val="FF6F00"/>
                </a:solidFill>
                <a:latin typeface="Calibri" pitchFamily="34" charset="0"/>
                <a:ea typeface="Calibri" pitchFamily="34" charset="-122"/>
                <a:cs typeface="Calibri" pitchFamily="34" charset="-120"/>
              </a:rPr>
              <a:t>Q : </a:t>
            </a:r>
            <a:pPr indent="0" marL="0">
              <a:buNone/>
            </a:pPr>
            <a:r>
              <a:rPr lang="en-US" sz="1300" b="1" dirty="0">
                <a:solidFill>
                  <a:srgbClr val="1A1A2E"/>
                </a:solidFill>
                <a:latin typeface="Calibri" pitchFamily="34" charset="0"/>
                <a:ea typeface="Calibri" pitchFamily="34" charset="-122"/>
                <a:cs typeface="Calibri" pitchFamily="34" charset="-120"/>
              </a:rPr>
              <a:t>J'ai supprimé des données par erreur !</a:t>
            </a:r>
            <a:endParaRPr lang="en-US" sz="1300" dirty="0"/>
          </a:p>
        </p:txBody>
      </p:sp>
      <p:sp>
        <p:nvSpPr>
          <p:cNvPr id="18" name="Text 16"/>
          <p:cNvSpPr/>
          <p:nvPr/>
        </p:nvSpPr>
        <p:spPr>
          <a:xfrm>
            <a:off x="731520" y="4480560"/>
            <a:ext cx="7772400" cy="36576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R : </a:t>
            </a:r>
            <a:pPr indent="0" marL="0">
              <a:buNone/>
            </a:pPr>
            <a:r>
              <a:rPr lang="en-US" sz="1200" dirty="0">
                <a:solidFill>
                  <a:srgbClr val="6B7280"/>
                </a:solidFill>
                <a:latin typeface="Calibri" pitchFamily="34" charset="0"/>
                <a:ea typeface="Calibri" pitchFamily="34" charset="-122"/>
                <a:cs typeface="Calibri" pitchFamily="34" charset="-120"/>
              </a:rPr>
              <a:t>Si dans une transaction : ROLLBACK. Sinon : contacter l'admin pour restauration backup.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A007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274320"/>
            <a:ext cx="1097280" cy="1097280"/>
          </a:xfrm>
          <a:prstGeom prst="rect">
            <a:avLst/>
          </a:prstGeom>
        </p:spPr>
      </p:pic>
      <p:sp>
        <p:nvSpPr>
          <p:cNvPr id="3" name="Text 0"/>
          <p:cNvSpPr/>
          <p:nvPr/>
        </p:nvSpPr>
        <p:spPr>
          <a:xfrm>
            <a:off x="457200" y="1371600"/>
            <a:ext cx="822960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D3 : Évaluation finale</a:t>
            </a:r>
            <a:endParaRPr lang="en-US" sz="3000" dirty="0"/>
          </a:p>
        </p:txBody>
      </p:sp>
      <p:sp>
        <p:nvSpPr>
          <p:cNvPr id="4" name="Text 1"/>
          <p:cNvSpPr/>
          <p:nvPr/>
        </p:nvSpPr>
        <p:spPr>
          <a:xfrm>
            <a:off x="914400" y="2011680"/>
            <a:ext cx="7315200" cy="731520"/>
          </a:xfrm>
          <a:prstGeom prst="rect">
            <a:avLst/>
          </a:prstGeom>
          <a:noFill/>
          <a:ln/>
        </p:spPr>
        <p:txBody>
          <a:bodyPr wrap="square" lIns="0" tIns="0" rIns="0" bIns="0" rtlCol="0" anchor="ctr"/>
          <a:lstStyle/>
          <a:p>
            <a:pPr algn="ctr" indent="0" marL="0">
              <a:buNone/>
            </a:pPr>
            <a:r>
              <a:rPr lang="en-US" sz="1400" dirty="0">
                <a:solidFill>
                  <a:srgbClr val="CCAAEE"/>
                </a:solidFill>
                <a:latin typeface="Calibri" pitchFamily="34" charset="0"/>
                <a:ea typeface="Calibri" pitchFamily="34" charset="-122"/>
                <a:cs typeface="Calibri" pitchFamily="34" charset="-120"/>
              </a:rPr>
              <a:t>Évaluer la BDD en termes d'améliorations nécessaires pour</a:t>
            </a:r>
            <a:endParaRPr lang="en-US" sz="1400" dirty="0"/>
          </a:p>
          <a:p>
            <a:pPr algn="ctr" indent="0" marL="0">
              <a:buNone/>
            </a:pPr>
            <a:r>
              <a:rPr lang="en-US" sz="1400" dirty="0">
                <a:solidFill>
                  <a:srgbClr val="CCAAEE"/>
                </a:solidFill>
                <a:latin typeface="Calibri" pitchFamily="34" charset="0"/>
                <a:ea typeface="Calibri" pitchFamily="34" charset="-122"/>
                <a:cs typeface="Calibri" pitchFamily="34" charset="-120"/>
              </a:rPr>
              <a:t>assurer l'efficacité continue du système</a:t>
            </a:r>
            <a:endParaRPr lang="en-US" sz="1400" dirty="0"/>
          </a:p>
        </p:txBody>
      </p:sp>
      <p:sp>
        <p:nvSpPr>
          <p:cNvPr id="5" name="Shape 2"/>
          <p:cNvSpPr/>
          <p:nvPr/>
        </p:nvSpPr>
        <p:spPr>
          <a:xfrm>
            <a:off x="1371600" y="2926080"/>
            <a:ext cx="6400800" cy="365760"/>
          </a:xfrm>
          <a:prstGeom prst="rect">
            <a:avLst/>
          </a:prstGeom>
          <a:solidFill>
            <a:srgbClr val="6A1B9A"/>
          </a:solidFill>
          <a:ln/>
        </p:spPr>
      </p:sp>
      <p:sp>
        <p:nvSpPr>
          <p:cNvPr id="6" name="Text 3"/>
          <p:cNvSpPr/>
          <p:nvPr/>
        </p:nvSpPr>
        <p:spPr>
          <a:xfrm>
            <a:off x="1554480" y="2926080"/>
            <a:ext cx="2286000" cy="365760"/>
          </a:xfrm>
          <a:prstGeom prst="rect">
            <a:avLst/>
          </a:prstGeom>
          <a:noFill/>
          <a:ln/>
        </p:spPr>
        <p:txBody>
          <a:bodyPr wrap="square" lIns="0" tIns="0" rIns="0" bIns="0" rtlCol="0" anchor="ctr"/>
          <a:lstStyle/>
          <a:p>
            <a:pPr indent="0" marL="0">
              <a:buNone/>
            </a:pPr>
            <a:r>
              <a:rPr lang="en-US" sz="1200" b="1" dirty="0">
                <a:solidFill>
                  <a:srgbClr val="FF6F00"/>
                </a:solidFill>
                <a:latin typeface="Trebuchet MS" pitchFamily="34" charset="0"/>
                <a:ea typeface="Trebuchet MS" pitchFamily="34" charset="-122"/>
                <a:cs typeface="Trebuchet MS" pitchFamily="34" charset="-120"/>
              </a:rPr>
              <a:t>Migration cloud</a:t>
            </a:r>
            <a:endParaRPr lang="en-US" sz="1200" dirty="0"/>
          </a:p>
        </p:txBody>
      </p:sp>
      <p:sp>
        <p:nvSpPr>
          <p:cNvPr id="7" name="Text 4"/>
          <p:cNvSpPr/>
          <p:nvPr/>
        </p:nvSpPr>
        <p:spPr>
          <a:xfrm>
            <a:off x="3931920" y="2926080"/>
            <a:ext cx="3657600" cy="365760"/>
          </a:xfrm>
          <a:prstGeom prst="rect">
            <a:avLst/>
          </a:prstGeom>
          <a:noFill/>
          <a:ln/>
        </p:spPr>
        <p:txBody>
          <a:bodyPr wrap="square" lIns="0" tIns="0" rIns="0" bIns="0" rtlCol="0" anchor="ctr"/>
          <a:lstStyle/>
          <a:p>
            <a:pPr indent="0" marL="0">
              <a:buNone/>
            </a:pPr>
            <a:r>
              <a:rPr lang="en-US" sz="1100" dirty="0">
                <a:solidFill>
                  <a:srgbClr val="DDDDDD"/>
                </a:solidFill>
                <a:latin typeface="Calibri" pitchFamily="34" charset="0"/>
                <a:ea typeface="Calibri" pitchFamily="34" charset="-122"/>
                <a:cs typeface="Calibri" pitchFamily="34" charset="-120"/>
              </a:rPr>
              <a:t>AWS RDS, Supabase, PlanetScale — haute disponibilité</a:t>
            </a:r>
            <a:endParaRPr lang="en-US" sz="1100" dirty="0"/>
          </a:p>
        </p:txBody>
      </p:sp>
      <p:sp>
        <p:nvSpPr>
          <p:cNvPr id="8" name="Shape 5"/>
          <p:cNvSpPr/>
          <p:nvPr/>
        </p:nvSpPr>
        <p:spPr>
          <a:xfrm>
            <a:off x="1371600" y="3337560"/>
            <a:ext cx="6400800" cy="365760"/>
          </a:xfrm>
          <a:prstGeom prst="rect">
            <a:avLst/>
          </a:prstGeom>
          <a:solidFill>
            <a:srgbClr val="6A1B9A"/>
          </a:solidFill>
          <a:ln/>
        </p:spPr>
      </p:sp>
      <p:sp>
        <p:nvSpPr>
          <p:cNvPr id="9" name="Text 6"/>
          <p:cNvSpPr/>
          <p:nvPr/>
        </p:nvSpPr>
        <p:spPr>
          <a:xfrm>
            <a:off x="1554480" y="3337560"/>
            <a:ext cx="2286000" cy="365760"/>
          </a:xfrm>
          <a:prstGeom prst="rect">
            <a:avLst/>
          </a:prstGeom>
          <a:noFill/>
          <a:ln/>
        </p:spPr>
        <p:txBody>
          <a:bodyPr wrap="square" lIns="0" tIns="0" rIns="0" bIns="0" rtlCol="0" anchor="ctr"/>
          <a:lstStyle/>
          <a:p>
            <a:pPr indent="0" marL="0">
              <a:buNone/>
            </a:pPr>
            <a:r>
              <a:rPr lang="en-US" sz="1200" b="1" dirty="0">
                <a:solidFill>
                  <a:srgbClr val="FF6F00"/>
                </a:solidFill>
                <a:latin typeface="Trebuchet MS" pitchFamily="34" charset="0"/>
                <a:ea typeface="Trebuchet MS" pitchFamily="34" charset="-122"/>
                <a:cs typeface="Trebuchet MS" pitchFamily="34" charset="-120"/>
              </a:rPr>
              <a:t>API REST</a:t>
            </a:r>
            <a:endParaRPr lang="en-US" sz="1200" dirty="0"/>
          </a:p>
        </p:txBody>
      </p:sp>
      <p:sp>
        <p:nvSpPr>
          <p:cNvPr id="10" name="Text 7"/>
          <p:cNvSpPr/>
          <p:nvPr/>
        </p:nvSpPr>
        <p:spPr>
          <a:xfrm>
            <a:off x="3931920" y="3337560"/>
            <a:ext cx="3657600" cy="365760"/>
          </a:xfrm>
          <a:prstGeom prst="rect">
            <a:avLst/>
          </a:prstGeom>
          <a:noFill/>
          <a:ln/>
        </p:spPr>
        <p:txBody>
          <a:bodyPr wrap="square" lIns="0" tIns="0" rIns="0" bIns="0" rtlCol="0" anchor="ctr"/>
          <a:lstStyle/>
          <a:p>
            <a:pPr indent="0" marL="0">
              <a:buNone/>
            </a:pPr>
            <a:r>
              <a:rPr lang="en-US" sz="1100" dirty="0">
                <a:solidFill>
                  <a:srgbClr val="DDDDDD"/>
                </a:solidFill>
                <a:latin typeface="Calibri" pitchFamily="34" charset="0"/>
                <a:ea typeface="Calibri" pitchFamily="34" charset="-122"/>
                <a:cs typeface="Calibri" pitchFamily="34" charset="-120"/>
              </a:rPr>
              <a:t>Connecter SwissSound à une app web/mobile</a:t>
            </a:r>
            <a:endParaRPr lang="en-US" sz="1100" dirty="0"/>
          </a:p>
        </p:txBody>
      </p:sp>
      <p:sp>
        <p:nvSpPr>
          <p:cNvPr id="11" name="Shape 8"/>
          <p:cNvSpPr/>
          <p:nvPr/>
        </p:nvSpPr>
        <p:spPr>
          <a:xfrm>
            <a:off x="1371600" y="3749040"/>
            <a:ext cx="6400800" cy="365760"/>
          </a:xfrm>
          <a:prstGeom prst="rect">
            <a:avLst/>
          </a:prstGeom>
          <a:solidFill>
            <a:srgbClr val="6A1B9A"/>
          </a:solidFill>
          <a:ln/>
        </p:spPr>
      </p:sp>
      <p:sp>
        <p:nvSpPr>
          <p:cNvPr id="12" name="Text 9"/>
          <p:cNvSpPr/>
          <p:nvPr/>
        </p:nvSpPr>
        <p:spPr>
          <a:xfrm>
            <a:off x="1554480" y="3749040"/>
            <a:ext cx="2286000" cy="365760"/>
          </a:xfrm>
          <a:prstGeom prst="rect">
            <a:avLst/>
          </a:prstGeom>
          <a:noFill/>
          <a:ln/>
        </p:spPr>
        <p:txBody>
          <a:bodyPr wrap="square" lIns="0" tIns="0" rIns="0" bIns="0" rtlCol="0" anchor="ctr"/>
          <a:lstStyle/>
          <a:p>
            <a:pPr indent="0" marL="0">
              <a:buNone/>
            </a:pPr>
            <a:r>
              <a:rPr lang="en-US" sz="1200" b="1" dirty="0">
                <a:solidFill>
                  <a:srgbClr val="FF6F00"/>
                </a:solidFill>
                <a:latin typeface="Trebuchet MS" pitchFamily="34" charset="0"/>
                <a:ea typeface="Trebuchet MS" pitchFamily="34" charset="-122"/>
                <a:cs typeface="Trebuchet MS" pitchFamily="34" charset="-120"/>
              </a:rPr>
              <a:t>Dashboard BI</a:t>
            </a:r>
            <a:endParaRPr lang="en-US" sz="1200" dirty="0"/>
          </a:p>
        </p:txBody>
      </p:sp>
      <p:sp>
        <p:nvSpPr>
          <p:cNvPr id="13" name="Text 10"/>
          <p:cNvSpPr/>
          <p:nvPr/>
        </p:nvSpPr>
        <p:spPr>
          <a:xfrm>
            <a:off x="3931920" y="3749040"/>
            <a:ext cx="3657600" cy="365760"/>
          </a:xfrm>
          <a:prstGeom prst="rect">
            <a:avLst/>
          </a:prstGeom>
          <a:noFill/>
          <a:ln/>
        </p:spPr>
        <p:txBody>
          <a:bodyPr wrap="square" lIns="0" tIns="0" rIns="0" bIns="0" rtlCol="0" anchor="ctr"/>
          <a:lstStyle/>
          <a:p>
            <a:pPr indent="0" marL="0">
              <a:buNone/>
            </a:pPr>
            <a:r>
              <a:rPr lang="en-US" sz="1100" dirty="0">
                <a:solidFill>
                  <a:srgbClr val="DDDDDD"/>
                </a:solidFill>
                <a:latin typeface="Calibri" pitchFamily="34" charset="0"/>
                <a:ea typeface="Calibri" pitchFamily="34" charset="-122"/>
                <a:cs typeface="Calibri" pitchFamily="34" charset="-120"/>
              </a:rPr>
              <a:t>Tableau de bord visuel (Metabase, Grafana)</a:t>
            </a:r>
            <a:endParaRPr lang="en-US" sz="1100" dirty="0"/>
          </a:p>
        </p:txBody>
      </p:sp>
      <p:sp>
        <p:nvSpPr>
          <p:cNvPr id="14" name="Shape 11"/>
          <p:cNvSpPr/>
          <p:nvPr/>
        </p:nvSpPr>
        <p:spPr>
          <a:xfrm>
            <a:off x="1371600" y="4160520"/>
            <a:ext cx="6400800" cy="365760"/>
          </a:xfrm>
          <a:prstGeom prst="rect">
            <a:avLst/>
          </a:prstGeom>
          <a:solidFill>
            <a:srgbClr val="6A1B9A"/>
          </a:solidFill>
          <a:ln/>
        </p:spPr>
      </p:sp>
      <p:sp>
        <p:nvSpPr>
          <p:cNvPr id="15" name="Text 12"/>
          <p:cNvSpPr/>
          <p:nvPr/>
        </p:nvSpPr>
        <p:spPr>
          <a:xfrm>
            <a:off x="1554480" y="4160520"/>
            <a:ext cx="2286000" cy="365760"/>
          </a:xfrm>
          <a:prstGeom prst="rect">
            <a:avLst/>
          </a:prstGeom>
          <a:noFill/>
          <a:ln/>
        </p:spPr>
        <p:txBody>
          <a:bodyPr wrap="square" lIns="0" tIns="0" rIns="0" bIns="0" rtlCol="0" anchor="ctr"/>
          <a:lstStyle/>
          <a:p>
            <a:pPr indent="0" marL="0">
              <a:buNone/>
            </a:pPr>
            <a:r>
              <a:rPr lang="en-US" sz="1200" b="1" dirty="0">
                <a:solidFill>
                  <a:srgbClr val="FF6F00"/>
                </a:solidFill>
                <a:latin typeface="Trebuchet MS" pitchFamily="34" charset="0"/>
                <a:ea typeface="Trebuchet MS" pitchFamily="34" charset="-122"/>
                <a:cs typeface="Trebuchet MS" pitchFamily="34" charset="-120"/>
              </a:rPr>
              <a:t>App mobile</a:t>
            </a:r>
            <a:endParaRPr lang="en-US" sz="1200" dirty="0"/>
          </a:p>
        </p:txBody>
      </p:sp>
      <p:sp>
        <p:nvSpPr>
          <p:cNvPr id="16" name="Text 13"/>
          <p:cNvSpPr/>
          <p:nvPr/>
        </p:nvSpPr>
        <p:spPr>
          <a:xfrm>
            <a:off x="3931920" y="4160520"/>
            <a:ext cx="3657600" cy="365760"/>
          </a:xfrm>
          <a:prstGeom prst="rect">
            <a:avLst/>
          </a:prstGeom>
          <a:noFill/>
          <a:ln/>
        </p:spPr>
        <p:txBody>
          <a:bodyPr wrap="square" lIns="0" tIns="0" rIns="0" bIns="0" rtlCol="0" anchor="ctr"/>
          <a:lstStyle/>
          <a:p>
            <a:pPr indent="0" marL="0">
              <a:buNone/>
            </a:pPr>
            <a:r>
              <a:rPr lang="en-US" sz="1100" dirty="0">
                <a:solidFill>
                  <a:srgbClr val="DDDDDD"/>
                </a:solidFill>
                <a:latin typeface="Calibri" pitchFamily="34" charset="0"/>
                <a:ea typeface="Calibri" pitchFamily="34" charset="-122"/>
                <a:cs typeface="Calibri" pitchFamily="34" charset="-120"/>
              </a:rPr>
              <a:t>Réservation de sessions en temps réel</a:t>
            </a:r>
            <a:endParaRPr lang="en-US" sz="1100" dirty="0"/>
          </a:p>
        </p:txBody>
      </p:sp>
      <p:sp>
        <p:nvSpPr>
          <p:cNvPr id="17" name="Shape 14"/>
          <p:cNvSpPr/>
          <p:nvPr/>
        </p:nvSpPr>
        <p:spPr>
          <a:xfrm>
            <a:off x="1371600" y="4572000"/>
            <a:ext cx="6400800" cy="365760"/>
          </a:xfrm>
          <a:prstGeom prst="rect">
            <a:avLst/>
          </a:prstGeom>
          <a:solidFill>
            <a:srgbClr val="6A1B9A"/>
          </a:solidFill>
          <a:ln/>
        </p:spPr>
      </p:sp>
      <p:sp>
        <p:nvSpPr>
          <p:cNvPr id="18" name="Text 15"/>
          <p:cNvSpPr/>
          <p:nvPr/>
        </p:nvSpPr>
        <p:spPr>
          <a:xfrm>
            <a:off x="1554480" y="4572000"/>
            <a:ext cx="2286000" cy="365760"/>
          </a:xfrm>
          <a:prstGeom prst="rect">
            <a:avLst/>
          </a:prstGeom>
          <a:noFill/>
          <a:ln/>
        </p:spPr>
        <p:txBody>
          <a:bodyPr wrap="square" lIns="0" tIns="0" rIns="0" bIns="0" rtlCol="0" anchor="ctr"/>
          <a:lstStyle/>
          <a:p>
            <a:pPr indent="0" marL="0">
              <a:buNone/>
            </a:pPr>
            <a:r>
              <a:rPr lang="en-US" sz="1200" b="1" dirty="0">
                <a:solidFill>
                  <a:srgbClr val="FF6F00"/>
                </a:solidFill>
                <a:latin typeface="Trebuchet MS" pitchFamily="34" charset="0"/>
                <a:ea typeface="Trebuchet MS" pitchFamily="34" charset="-122"/>
                <a:cs typeface="Trebuchet MS" pitchFamily="34" charset="-120"/>
              </a:rPr>
              <a:t>Automatisation</a:t>
            </a:r>
            <a:endParaRPr lang="en-US" sz="1200" dirty="0"/>
          </a:p>
        </p:txBody>
      </p:sp>
      <p:sp>
        <p:nvSpPr>
          <p:cNvPr id="19" name="Text 16"/>
          <p:cNvSpPr/>
          <p:nvPr/>
        </p:nvSpPr>
        <p:spPr>
          <a:xfrm>
            <a:off x="3931920" y="4572000"/>
            <a:ext cx="3657600" cy="365760"/>
          </a:xfrm>
          <a:prstGeom prst="rect">
            <a:avLst/>
          </a:prstGeom>
          <a:noFill/>
          <a:ln/>
        </p:spPr>
        <p:txBody>
          <a:bodyPr wrap="square" lIns="0" tIns="0" rIns="0" bIns="0" rtlCol="0" anchor="ctr"/>
          <a:lstStyle/>
          <a:p>
            <a:pPr indent="0" marL="0">
              <a:buNone/>
            </a:pPr>
            <a:r>
              <a:rPr lang="en-US" sz="1100" dirty="0">
                <a:solidFill>
                  <a:srgbClr val="DDDDDD"/>
                </a:solidFill>
                <a:latin typeface="Calibri" pitchFamily="34" charset="0"/>
                <a:ea typeface="Calibri" pitchFamily="34" charset="-122"/>
                <a:cs typeface="Calibri" pitchFamily="34" charset="-120"/>
              </a:rPr>
              <a:t>Factures auto-générées, rappels email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6A1B9A"/>
                </a:solidFill>
                <a:latin typeface="Trebuchet MS" pitchFamily="34" charset="0"/>
                <a:ea typeface="Trebuchet MS" pitchFamily="34" charset="-122"/>
                <a:cs typeface="Trebuchet MS" pitchFamily="34" charset="-120"/>
              </a:rPr>
              <a:t>Exercice : Votre guide utilisateur SwissSound</a:t>
            </a:r>
            <a:endParaRPr lang="en-US" sz="2400" dirty="0"/>
          </a:p>
        </p:txBody>
      </p:sp>
      <p:sp>
        <p:nvSpPr>
          <p:cNvPr id="3" name="Shape 1"/>
          <p:cNvSpPr/>
          <p:nvPr/>
        </p:nvSpPr>
        <p:spPr>
          <a:xfrm>
            <a:off x="457200" y="1005840"/>
            <a:ext cx="822960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4" name="Shape 2"/>
          <p:cNvSpPr/>
          <p:nvPr/>
        </p:nvSpPr>
        <p:spPr>
          <a:xfrm>
            <a:off x="457200" y="1005840"/>
            <a:ext cx="91440" cy="1234440"/>
          </a:xfrm>
          <a:prstGeom prst="rect">
            <a:avLst/>
          </a:prstGeom>
          <a:solidFill>
            <a:srgbClr val="2E7D32"/>
          </a:solidFill>
          <a:ln/>
        </p:spPr>
      </p:sp>
      <p:sp>
        <p:nvSpPr>
          <p:cNvPr id="5" name="Text 3"/>
          <p:cNvSpPr/>
          <p:nvPr/>
        </p:nvSpPr>
        <p:spPr>
          <a:xfrm>
            <a:off x="731520" y="1051560"/>
            <a:ext cx="7772400" cy="320040"/>
          </a:xfrm>
          <a:prstGeom prst="rect">
            <a:avLst/>
          </a:prstGeom>
          <a:noFill/>
          <a:ln/>
        </p:spPr>
        <p:txBody>
          <a:bodyPr wrap="square" lIns="0" tIns="0" rIns="0" bIns="0" rtlCol="0" anchor="ctr"/>
          <a:lstStyle/>
          <a:p>
            <a:pPr indent="0" marL="0">
              <a:buNone/>
            </a:pPr>
            <a:r>
              <a:rPr lang="en-US" sz="1500" b="1" dirty="0">
                <a:solidFill>
                  <a:srgbClr val="2E7D32"/>
                </a:solidFill>
                <a:latin typeface="Trebuchet MS" pitchFamily="34" charset="0"/>
                <a:ea typeface="Trebuchet MS" pitchFamily="34" charset="-122"/>
                <a:cs typeface="Trebuchet MS" pitchFamily="34" charset="-120"/>
              </a:rPr>
              <a:t>P5 — Guide utilisateur</a:t>
            </a:r>
            <a:endParaRPr lang="en-US" sz="1500" dirty="0"/>
          </a:p>
        </p:txBody>
      </p:sp>
      <p:sp>
        <p:nvSpPr>
          <p:cNvPr id="6" name="Text 4"/>
          <p:cNvSpPr/>
          <p:nvPr/>
        </p:nvSpPr>
        <p:spPr>
          <a:xfrm>
            <a:off x="731520" y="1371600"/>
            <a:ext cx="7772400" cy="8229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Rédiger 3 procédures complètes avec captures :</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Ajouter un artiste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Réserver une session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Consulter les factures impayées</a:t>
            </a:r>
            <a:endParaRPr lang="en-US" sz="1200" dirty="0"/>
          </a:p>
        </p:txBody>
      </p:sp>
      <p:sp>
        <p:nvSpPr>
          <p:cNvPr id="7" name="Shape 5"/>
          <p:cNvSpPr/>
          <p:nvPr/>
        </p:nvSpPr>
        <p:spPr>
          <a:xfrm>
            <a:off x="457200" y="2331720"/>
            <a:ext cx="822960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457200" y="2331720"/>
            <a:ext cx="91440" cy="1234440"/>
          </a:xfrm>
          <a:prstGeom prst="rect">
            <a:avLst/>
          </a:prstGeom>
          <a:solidFill>
            <a:srgbClr val="1565C0"/>
          </a:solidFill>
          <a:ln/>
        </p:spPr>
      </p:sp>
      <p:sp>
        <p:nvSpPr>
          <p:cNvPr id="9" name="Text 7"/>
          <p:cNvSpPr/>
          <p:nvPr/>
        </p:nvSpPr>
        <p:spPr>
          <a:xfrm>
            <a:off x="731520" y="2377440"/>
            <a:ext cx="7772400" cy="320040"/>
          </a:xfrm>
          <a:prstGeom prst="rect">
            <a:avLst/>
          </a:prstGeom>
          <a:noFill/>
          <a:ln/>
        </p:spPr>
        <p:txBody>
          <a:bodyPr wrap="square" lIns="0" tIns="0" rIns="0" bIns="0" rtlCol="0" anchor="ctr"/>
          <a:lstStyle/>
          <a:p>
            <a:pPr indent="0" marL="0">
              <a:buNone/>
            </a:pPr>
            <a:r>
              <a:rPr lang="en-US" sz="1500" b="1" dirty="0">
                <a:solidFill>
                  <a:srgbClr val="1565C0"/>
                </a:solidFill>
                <a:latin typeface="Trebuchet MS" pitchFamily="34" charset="0"/>
                <a:ea typeface="Trebuchet MS" pitchFamily="34" charset="-122"/>
                <a:cs typeface="Trebuchet MS" pitchFamily="34" charset="-120"/>
              </a:rPr>
              <a:t>M5 — Guide complet</a:t>
            </a:r>
            <a:endParaRPr lang="en-US" sz="1500" dirty="0"/>
          </a:p>
        </p:txBody>
      </p:sp>
      <p:sp>
        <p:nvSpPr>
          <p:cNvPr id="10" name="Text 8"/>
          <p:cNvSpPr/>
          <p:nvPr/>
        </p:nvSpPr>
        <p:spPr>
          <a:xfrm>
            <a:off x="731520" y="2697480"/>
            <a:ext cx="7772400" cy="8229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Ajouter :</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Guide de démarrage rapide (connexion)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FAQ (5 questions minimum)</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Glossaire des termes</a:t>
            </a:r>
            <a:endParaRPr lang="en-US" sz="1200" dirty="0"/>
          </a:p>
        </p:txBody>
      </p:sp>
      <p:sp>
        <p:nvSpPr>
          <p:cNvPr id="11" name="Shape 9"/>
          <p:cNvSpPr/>
          <p:nvPr/>
        </p:nvSpPr>
        <p:spPr>
          <a:xfrm>
            <a:off x="457200" y="3657600"/>
            <a:ext cx="822960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57200" y="3657600"/>
            <a:ext cx="91440" cy="1234440"/>
          </a:xfrm>
          <a:prstGeom prst="rect">
            <a:avLst/>
          </a:prstGeom>
          <a:solidFill>
            <a:srgbClr val="FF6F00"/>
          </a:solidFill>
          <a:ln/>
        </p:spPr>
      </p:sp>
      <p:sp>
        <p:nvSpPr>
          <p:cNvPr id="13" name="Text 11"/>
          <p:cNvSpPr/>
          <p:nvPr/>
        </p:nvSpPr>
        <p:spPr>
          <a:xfrm>
            <a:off x="731520" y="3703320"/>
            <a:ext cx="7772400" cy="320040"/>
          </a:xfrm>
          <a:prstGeom prst="rect">
            <a:avLst/>
          </a:prstGeom>
          <a:noFill/>
          <a:ln/>
        </p:spPr>
        <p:txBody>
          <a:bodyPr wrap="square" lIns="0" tIns="0" rIns="0" bIns="0" rtlCol="0" anchor="ctr"/>
          <a:lstStyle/>
          <a:p>
            <a:pPr indent="0" marL="0">
              <a:buNone/>
            </a:pPr>
            <a:r>
              <a:rPr lang="en-US" sz="1500" b="1" dirty="0">
                <a:solidFill>
                  <a:srgbClr val="FF6F00"/>
                </a:solidFill>
                <a:latin typeface="Trebuchet MS" pitchFamily="34" charset="0"/>
                <a:ea typeface="Trebuchet MS" pitchFamily="34" charset="-122"/>
                <a:cs typeface="Trebuchet MS" pitchFamily="34" charset="-120"/>
              </a:rPr>
              <a:t>D3 — Améliorations</a:t>
            </a:r>
            <a:endParaRPr lang="en-US" sz="1500" dirty="0"/>
          </a:p>
        </p:txBody>
      </p:sp>
      <p:sp>
        <p:nvSpPr>
          <p:cNvPr id="14" name="Text 12"/>
          <p:cNvSpPr/>
          <p:nvPr/>
        </p:nvSpPr>
        <p:spPr>
          <a:xfrm>
            <a:off x="731520" y="4023360"/>
            <a:ext cx="7772400" cy="8229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Rédiger 1-2 pages d'analyse :</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5 améliorations concrètes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Justification de chaque amélioration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Impact sur l'efficacité continue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007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365760"/>
            <a:ext cx="1097280" cy="1097280"/>
          </a:xfrm>
          <a:prstGeom prst="rect">
            <a:avLst/>
          </a:prstGeom>
        </p:spPr>
      </p:pic>
      <p:sp>
        <p:nvSpPr>
          <p:cNvPr id="3" name="Text 0"/>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 Mini-jeu : Le Guide Parfait</a:t>
            </a:r>
            <a:endParaRPr lang="en-US" sz="2800" dirty="0"/>
          </a:p>
        </p:txBody>
      </p:sp>
      <p:sp>
        <p:nvSpPr>
          <p:cNvPr id="4" name="Text 1"/>
          <p:cNvSpPr/>
          <p:nvPr/>
        </p:nvSpPr>
        <p:spPr>
          <a:xfrm>
            <a:off x="1371600" y="2286000"/>
            <a:ext cx="6400800" cy="1097280"/>
          </a:xfrm>
          <a:prstGeom prst="rect">
            <a:avLst/>
          </a:prstGeom>
          <a:noFill/>
          <a:ln/>
        </p:spPr>
        <p:txBody>
          <a:bodyPr wrap="square" lIns="0" tIns="0" rIns="0" bIns="0" rtlCol="0" anchor="ctr"/>
          <a:lstStyle/>
          <a:p>
            <a:pPr algn="ctr" indent="0" marL="0">
              <a:buNone/>
            </a:pPr>
            <a:r>
              <a:rPr lang="en-US" sz="1600" dirty="0">
                <a:solidFill>
                  <a:srgbClr val="CCAAEE"/>
                </a:solidFill>
                <a:latin typeface="Calibri" pitchFamily="34" charset="0"/>
                <a:ea typeface="Calibri" pitchFamily="34" charset="-122"/>
                <a:cs typeface="Calibri" pitchFamily="34" charset="-120"/>
              </a:rPr>
              <a:t>Écrivez des instructions pas à pas.</a:t>
            </a:r>
            <a:endParaRPr lang="en-US" sz="1600" dirty="0"/>
          </a:p>
          <a:p>
            <a:pPr algn="ctr" indent="0" marL="0">
              <a:buNone/>
            </a:pPr>
            <a:r>
              <a:rPr lang="en-US" sz="1600" dirty="0">
                <a:solidFill>
                  <a:srgbClr val="CCAAEE"/>
                </a:solidFill>
                <a:latin typeface="Calibri" pitchFamily="34" charset="0"/>
                <a:ea typeface="Calibri" pitchFamily="34" charset="-122"/>
                <a:cs typeface="Calibri" pitchFamily="34" charset="-120"/>
              </a:rPr>
              <a:t>Un collègue teste vos instructions à l'aveugle !</a:t>
            </a:r>
            <a:endParaRPr lang="en-US" sz="1600" dirty="0"/>
          </a:p>
          <a:p>
            <a:pPr algn="ctr" indent="0" marL="0">
              <a:buNone/>
            </a:pPr>
            <a:r>
              <a:rPr lang="en-US" sz="1600" dirty="0">
                <a:solidFill>
                  <a:srgbClr val="CCAAEE"/>
                </a:solidFill>
                <a:latin typeface="Calibri" pitchFamily="34" charset="0"/>
                <a:ea typeface="Calibri" pitchFamily="34" charset="-122"/>
                <a:cs typeface="Calibri" pitchFamily="34" charset="-120"/>
              </a:rPr>
              <a:t>Chaque étape manquante = points perdus.</a:t>
            </a:r>
            <a:endParaRPr lang="en-US" sz="1600" dirty="0"/>
          </a:p>
        </p:txBody>
      </p:sp>
      <p:sp>
        <p:nvSpPr>
          <p:cNvPr id="5" name="Shape 2"/>
          <p:cNvSpPr/>
          <p:nvPr/>
        </p:nvSpPr>
        <p:spPr>
          <a:xfrm>
            <a:off x="2286000" y="3657600"/>
            <a:ext cx="4572000" cy="548640"/>
          </a:xfrm>
          <a:prstGeom prst="rect">
            <a:avLst/>
          </a:prstGeom>
          <a:solidFill>
            <a:srgbClr val="FF6F00"/>
          </a:solidFill>
          <a:ln/>
        </p:spPr>
      </p:sp>
      <p:sp>
        <p:nvSpPr>
          <p:cNvPr id="6" name="Text 3"/>
          <p:cNvSpPr/>
          <p:nvPr/>
        </p:nvSpPr>
        <p:spPr>
          <a:xfrm>
            <a:off x="2286000" y="3657600"/>
            <a:ext cx="45720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  Lancer le jeu sur Vercel</a:t>
            </a:r>
            <a:endParaRPr lang="en-US" sz="1800" dirty="0"/>
          </a:p>
        </p:txBody>
      </p:sp>
      <p:sp>
        <p:nvSpPr>
          <p:cNvPr id="7" name="Text 4"/>
          <p:cNvSpPr/>
          <p:nvPr/>
        </p:nvSpPr>
        <p:spPr>
          <a:xfrm>
            <a:off x="914400" y="4389120"/>
            <a:ext cx="7315200" cy="365760"/>
          </a:xfrm>
          <a:prstGeom prst="rect">
            <a:avLst/>
          </a:prstGeom>
          <a:noFill/>
          <a:ln/>
        </p:spPr>
        <p:txBody>
          <a:bodyPr wrap="square" lIns="0" tIns="0" rIns="0" bIns="0" rtlCol="0" anchor="ctr"/>
          <a:lstStyle/>
          <a:p>
            <a:pPr algn="ctr" indent="0" marL="0">
              <a:buNone/>
            </a:pPr>
            <a:r>
              <a:rPr lang="en-US" sz="1200" dirty="0">
                <a:solidFill>
                  <a:srgbClr val="AA88CC"/>
                </a:solidFill>
                <a:latin typeface="Calibri" pitchFamily="34" charset="0"/>
                <a:ea typeface="Calibri" pitchFamily="34" charset="-122"/>
                <a:cs typeface="Calibri" pitchFamily="34" charset="-120"/>
              </a:rPr>
              <a:t>5 tâches × 3 min | Score + Combos | Correction automatique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6A1B9A"/>
                </a:solidFill>
                <a:latin typeface="Trebuchet MS" pitchFamily="34" charset="0"/>
                <a:ea typeface="Trebuchet MS" pitchFamily="34" charset="-122"/>
                <a:cs typeface="Trebuchet MS" pitchFamily="34" charset="-120"/>
              </a:rPr>
              <a:t>📋 Mémo Module 20 — Documentation utilisateur</a:t>
            </a:r>
            <a:endParaRPr lang="en-US" sz="2200" dirty="0"/>
          </a:p>
        </p:txBody>
      </p:sp>
      <p:sp>
        <p:nvSpPr>
          <p:cNvPr id="3" name="Shape 1"/>
          <p:cNvSpPr/>
          <p:nvPr/>
        </p:nvSpPr>
        <p:spPr>
          <a:xfrm>
            <a:off x="457200" y="777240"/>
            <a:ext cx="8229600" cy="320040"/>
          </a:xfrm>
          <a:prstGeom prst="rect">
            <a:avLst/>
          </a:prstGeom>
          <a:solidFill>
            <a:srgbClr val="FFF3E0"/>
          </a:solidFill>
          <a:ln/>
        </p:spPr>
      </p:sp>
      <p:sp>
        <p:nvSpPr>
          <p:cNvPr id="4" name="Text 2"/>
          <p:cNvSpPr/>
          <p:nvPr/>
        </p:nvSpPr>
        <p:spPr>
          <a:xfrm>
            <a:off x="640080" y="777240"/>
            <a:ext cx="7772400" cy="320040"/>
          </a:xfrm>
          <a:prstGeom prst="rect">
            <a:avLst/>
          </a:prstGeom>
          <a:noFill/>
          <a:ln/>
        </p:spPr>
        <p:txBody>
          <a:bodyPr wrap="square" lIns="0" tIns="0" rIns="0" bIns="0" rtlCol="0" anchor="ctr"/>
          <a:lstStyle/>
          <a:p>
            <a:pPr indent="0" marL="0">
              <a:buNone/>
            </a:pPr>
            <a:r>
              <a:rPr lang="en-US" sz="1100" b="1" dirty="0">
                <a:solidFill>
                  <a:srgbClr val="FF6F00"/>
                </a:solidFill>
                <a:latin typeface="Calibri" pitchFamily="34" charset="0"/>
                <a:ea typeface="Calibri" pitchFamily="34" charset="-122"/>
                <a:cs typeface="Calibri" pitchFamily="34" charset="-120"/>
              </a:rPr>
              <a:t>🔒 Ce mémo se débloque quand toutes les phases du module sont terminées !</a:t>
            </a:r>
            <a:endParaRPr lang="en-US" sz="1100" dirty="0"/>
          </a:p>
        </p:txBody>
      </p:sp>
      <p:sp>
        <p:nvSpPr>
          <p:cNvPr id="5" name="Shape 3"/>
          <p:cNvSpPr/>
          <p:nvPr/>
        </p:nvSpPr>
        <p:spPr>
          <a:xfrm>
            <a:off x="457200" y="1234440"/>
            <a:ext cx="2286000" cy="438912"/>
          </a:xfrm>
          <a:prstGeom prst="rect">
            <a:avLst/>
          </a:prstGeom>
          <a:solidFill>
            <a:srgbClr val="F3E5F5"/>
          </a:solidFill>
          <a:ln/>
        </p:spPr>
      </p:sp>
      <p:sp>
        <p:nvSpPr>
          <p:cNvPr id="6" name="Text 4"/>
          <p:cNvSpPr/>
          <p:nvPr/>
        </p:nvSpPr>
        <p:spPr>
          <a:xfrm>
            <a:off x="548640" y="123444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Doc technique</a:t>
            </a:r>
            <a:endParaRPr lang="en-US" sz="1100" dirty="0"/>
          </a:p>
        </p:txBody>
      </p:sp>
      <p:sp>
        <p:nvSpPr>
          <p:cNvPr id="7" name="Shape 5"/>
          <p:cNvSpPr/>
          <p:nvPr/>
        </p:nvSpPr>
        <p:spPr>
          <a:xfrm>
            <a:off x="2743200" y="1234440"/>
            <a:ext cx="5943600" cy="438912"/>
          </a:xfrm>
          <a:prstGeom prst="rect">
            <a:avLst/>
          </a:prstGeom>
          <a:solidFill>
            <a:srgbClr val="F3E5F5"/>
          </a:solidFill>
          <a:ln/>
        </p:spPr>
      </p:sp>
      <p:sp>
        <p:nvSpPr>
          <p:cNvPr id="8" name="Text 6"/>
          <p:cNvSpPr/>
          <p:nvPr/>
        </p:nvSpPr>
        <p:spPr>
          <a:xfrm>
            <a:off x="2834640" y="123444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Pour développeurs/DBA : DFD, flowcharts, dictionnaire, scripts SQL</a:t>
            </a:r>
            <a:endParaRPr lang="en-US" sz="1100" dirty="0"/>
          </a:p>
        </p:txBody>
      </p:sp>
      <p:sp>
        <p:nvSpPr>
          <p:cNvPr id="9" name="Shape 7"/>
          <p:cNvSpPr/>
          <p:nvPr/>
        </p:nvSpPr>
        <p:spPr>
          <a:xfrm>
            <a:off x="457200" y="1737360"/>
            <a:ext cx="2286000" cy="438912"/>
          </a:xfrm>
          <a:prstGeom prst="rect">
            <a:avLst/>
          </a:prstGeom>
          <a:solidFill>
            <a:srgbClr val="E8EDF2"/>
          </a:solidFill>
          <a:ln/>
        </p:spPr>
      </p:sp>
      <p:sp>
        <p:nvSpPr>
          <p:cNvPr id="10" name="Text 8"/>
          <p:cNvSpPr/>
          <p:nvPr/>
        </p:nvSpPr>
        <p:spPr>
          <a:xfrm>
            <a:off x="548640" y="173736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Doc utilisateur</a:t>
            </a:r>
            <a:endParaRPr lang="en-US" sz="1100" dirty="0"/>
          </a:p>
        </p:txBody>
      </p:sp>
      <p:sp>
        <p:nvSpPr>
          <p:cNvPr id="11" name="Shape 9"/>
          <p:cNvSpPr/>
          <p:nvPr/>
        </p:nvSpPr>
        <p:spPr>
          <a:xfrm>
            <a:off x="2743200" y="1737360"/>
            <a:ext cx="5943600" cy="438912"/>
          </a:xfrm>
          <a:prstGeom prst="rect">
            <a:avLst/>
          </a:prstGeom>
          <a:solidFill>
            <a:srgbClr val="E8EDF2"/>
          </a:solidFill>
          <a:ln/>
        </p:spPr>
      </p:sp>
      <p:sp>
        <p:nvSpPr>
          <p:cNvPr id="12" name="Text 10"/>
          <p:cNvSpPr/>
          <p:nvPr/>
        </p:nvSpPr>
        <p:spPr>
          <a:xfrm>
            <a:off x="2834640" y="173736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Pour utilisateurs finaux : guide pas à pas, captures, FAQ, glossaire</a:t>
            </a:r>
            <a:endParaRPr lang="en-US" sz="1100" dirty="0"/>
          </a:p>
        </p:txBody>
      </p:sp>
      <p:sp>
        <p:nvSpPr>
          <p:cNvPr id="13" name="Shape 11"/>
          <p:cNvSpPr/>
          <p:nvPr/>
        </p:nvSpPr>
        <p:spPr>
          <a:xfrm>
            <a:off x="457200" y="2240280"/>
            <a:ext cx="2286000" cy="438912"/>
          </a:xfrm>
          <a:prstGeom prst="rect">
            <a:avLst/>
          </a:prstGeom>
          <a:solidFill>
            <a:srgbClr val="F3E5F5"/>
          </a:solidFill>
          <a:ln/>
        </p:spPr>
      </p:sp>
      <p:sp>
        <p:nvSpPr>
          <p:cNvPr id="14" name="Text 12"/>
          <p:cNvSpPr/>
          <p:nvPr/>
        </p:nvSpPr>
        <p:spPr>
          <a:xfrm>
            <a:off x="548640" y="224028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Capture annotée</a:t>
            </a:r>
            <a:endParaRPr lang="en-US" sz="1100" dirty="0"/>
          </a:p>
        </p:txBody>
      </p:sp>
      <p:sp>
        <p:nvSpPr>
          <p:cNvPr id="15" name="Shape 13"/>
          <p:cNvSpPr/>
          <p:nvPr/>
        </p:nvSpPr>
        <p:spPr>
          <a:xfrm>
            <a:off x="2743200" y="2240280"/>
            <a:ext cx="5943600" cy="438912"/>
          </a:xfrm>
          <a:prstGeom prst="rect">
            <a:avLst/>
          </a:prstGeom>
          <a:solidFill>
            <a:srgbClr val="F3E5F5"/>
          </a:solidFill>
          <a:ln/>
        </p:spPr>
      </p:sp>
      <p:sp>
        <p:nvSpPr>
          <p:cNvPr id="16" name="Text 14"/>
          <p:cNvSpPr/>
          <p:nvPr/>
        </p:nvSpPr>
        <p:spPr>
          <a:xfrm>
            <a:off x="2834640" y="224028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Numéroter les actions, entourer les éléments, légende, masquer données sensibles</a:t>
            </a:r>
            <a:endParaRPr lang="en-US" sz="1100" dirty="0"/>
          </a:p>
        </p:txBody>
      </p:sp>
      <p:sp>
        <p:nvSpPr>
          <p:cNvPr id="17" name="Shape 15"/>
          <p:cNvSpPr/>
          <p:nvPr/>
        </p:nvSpPr>
        <p:spPr>
          <a:xfrm>
            <a:off x="457200" y="2743200"/>
            <a:ext cx="2286000" cy="438912"/>
          </a:xfrm>
          <a:prstGeom prst="rect">
            <a:avLst/>
          </a:prstGeom>
          <a:solidFill>
            <a:srgbClr val="E8EDF2"/>
          </a:solidFill>
          <a:ln/>
        </p:spPr>
      </p:sp>
      <p:sp>
        <p:nvSpPr>
          <p:cNvPr id="18" name="Text 16"/>
          <p:cNvSpPr/>
          <p:nvPr/>
        </p:nvSpPr>
        <p:spPr>
          <a:xfrm>
            <a:off x="548640" y="274320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FAQ</a:t>
            </a:r>
            <a:endParaRPr lang="en-US" sz="1100" dirty="0"/>
          </a:p>
        </p:txBody>
      </p:sp>
      <p:sp>
        <p:nvSpPr>
          <p:cNvPr id="19" name="Shape 17"/>
          <p:cNvSpPr/>
          <p:nvPr/>
        </p:nvSpPr>
        <p:spPr>
          <a:xfrm>
            <a:off x="2743200" y="2743200"/>
            <a:ext cx="5943600" cy="438912"/>
          </a:xfrm>
          <a:prstGeom prst="rect">
            <a:avLst/>
          </a:prstGeom>
          <a:solidFill>
            <a:srgbClr val="E8EDF2"/>
          </a:solidFill>
          <a:ln/>
        </p:spPr>
      </p:sp>
      <p:sp>
        <p:nvSpPr>
          <p:cNvPr id="20" name="Text 18"/>
          <p:cNvSpPr/>
          <p:nvPr/>
        </p:nvSpPr>
        <p:spPr>
          <a:xfrm>
            <a:off x="2834640" y="274320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Basée sur les vraies erreurs rencontrées. Format Q/R clair.</a:t>
            </a:r>
            <a:endParaRPr lang="en-US" sz="1100" dirty="0"/>
          </a:p>
        </p:txBody>
      </p:sp>
      <p:sp>
        <p:nvSpPr>
          <p:cNvPr id="21" name="Shape 19"/>
          <p:cNvSpPr/>
          <p:nvPr/>
        </p:nvSpPr>
        <p:spPr>
          <a:xfrm>
            <a:off x="457200" y="3246120"/>
            <a:ext cx="2286000" cy="438912"/>
          </a:xfrm>
          <a:prstGeom prst="rect">
            <a:avLst/>
          </a:prstGeom>
          <a:solidFill>
            <a:srgbClr val="F3E5F5"/>
          </a:solidFill>
          <a:ln/>
        </p:spPr>
      </p:sp>
      <p:sp>
        <p:nvSpPr>
          <p:cNvPr id="22" name="Text 20"/>
          <p:cNvSpPr/>
          <p:nvPr/>
        </p:nvSpPr>
        <p:spPr>
          <a:xfrm>
            <a:off x="548640" y="324612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Guide démarrage</a:t>
            </a:r>
            <a:endParaRPr lang="en-US" sz="1100" dirty="0"/>
          </a:p>
        </p:txBody>
      </p:sp>
      <p:sp>
        <p:nvSpPr>
          <p:cNvPr id="23" name="Shape 21"/>
          <p:cNvSpPr/>
          <p:nvPr/>
        </p:nvSpPr>
        <p:spPr>
          <a:xfrm>
            <a:off x="2743200" y="3246120"/>
            <a:ext cx="5943600" cy="438912"/>
          </a:xfrm>
          <a:prstGeom prst="rect">
            <a:avLst/>
          </a:prstGeom>
          <a:solidFill>
            <a:srgbClr val="F3E5F5"/>
          </a:solidFill>
          <a:ln/>
        </p:spPr>
      </p:sp>
      <p:sp>
        <p:nvSpPr>
          <p:cNvPr id="24" name="Text 22"/>
          <p:cNvSpPr/>
          <p:nvPr/>
        </p:nvSpPr>
        <p:spPr>
          <a:xfrm>
            <a:off x="2834640" y="324612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Les 5 premières minutes : connexion, navigation, 1ère action.</a:t>
            </a:r>
            <a:endParaRPr lang="en-US" sz="1100" dirty="0"/>
          </a:p>
        </p:txBody>
      </p:sp>
      <p:sp>
        <p:nvSpPr>
          <p:cNvPr id="25" name="Shape 23"/>
          <p:cNvSpPr/>
          <p:nvPr/>
        </p:nvSpPr>
        <p:spPr>
          <a:xfrm>
            <a:off x="457200" y="3749040"/>
            <a:ext cx="2286000" cy="438912"/>
          </a:xfrm>
          <a:prstGeom prst="rect">
            <a:avLst/>
          </a:prstGeom>
          <a:solidFill>
            <a:srgbClr val="E8EDF2"/>
          </a:solidFill>
          <a:ln/>
        </p:spPr>
      </p:sp>
      <p:sp>
        <p:nvSpPr>
          <p:cNvPr id="26" name="Text 24"/>
          <p:cNvSpPr/>
          <p:nvPr/>
        </p:nvSpPr>
        <p:spPr>
          <a:xfrm>
            <a:off x="548640" y="374904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D3 : Améliorations</a:t>
            </a:r>
            <a:endParaRPr lang="en-US" sz="1100" dirty="0"/>
          </a:p>
        </p:txBody>
      </p:sp>
      <p:sp>
        <p:nvSpPr>
          <p:cNvPr id="27" name="Shape 25"/>
          <p:cNvSpPr/>
          <p:nvPr/>
        </p:nvSpPr>
        <p:spPr>
          <a:xfrm>
            <a:off x="2743200" y="3749040"/>
            <a:ext cx="5943600" cy="438912"/>
          </a:xfrm>
          <a:prstGeom prst="rect">
            <a:avLst/>
          </a:prstGeom>
          <a:solidFill>
            <a:srgbClr val="E8EDF2"/>
          </a:solidFill>
          <a:ln/>
        </p:spPr>
      </p:sp>
      <p:sp>
        <p:nvSpPr>
          <p:cNvPr id="28" name="Text 26"/>
          <p:cNvSpPr/>
          <p:nvPr/>
        </p:nvSpPr>
        <p:spPr>
          <a:xfrm>
            <a:off x="2834640" y="374904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Cloud, API, BI, mobile, automatisation — argumenter chaque proposition.</a:t>
            </a:r>
            <a:endParaRPr lang="en-US" sz="1100" dirty="0"/>
          </a:p>
        </p:txBody>
      </p:sp>
      <p:sp>
        <p:nvSpPr>
          <p:cNvPr id="29" name="Shape 27"/>
          <p:cNvSpPr/>
          <p:nvPr/>
        </p:nvSpPr>
        <p:spPr>
          <a:xfrm>
            <a:off x="457200" y="4251960"/>
            <a:ext cx="2286000" cy="438912"/>
          </a:xfrm>
          <a:prstGeom prst="rect">
            <a:avLst/>
          </a:prstGeom>
          <a:solidFill>
            <a:srgbClr val="F3E5F5"/>
          </a:solidFill>
          <a:ln/>
        </p:spPr>
      </p:sp>
      <p:sp>
        <p:nvSpPr>
          <p:cNvPr id="30" name="Text 28"/>
          <p:cNvSpPr/>
          <p:nvPr/>
        </p:nvSpPr>
        <p:spPr>
          <a:xfrm>
            <a:off x="548640" y="4251960"/>
            <a:ext cx="2103120" cy="438912"/>
          </a:xfrm>
          <a:prstGeom prst="rect">
            <a:avLst/>
          </a:prstGeom>
          <a:noFill/>
          <a:ln/>
        </p:spPr>
        <p:txBody>
          <a:bodyPr wrap="square" lIns="0" tIns="0" rIns="0" bIns="0" rtlCol="0" anchor="ctr"/>
          <a:lstStyle/>
          <a:p>
            <a:pPr indent="0" marL="0">
              <a:buNone/>
            </a:pPr>
            <a:r>
              <a:rPr lang="en-US" sz="1100" b="1" dirty="0">
                <a:solidFill>
                  <a:srgbClr val="6A1B9A"/>
                </a:solidFill>
                <a:latin typeface="Trebuchet MS" pitchFamily="34" charset="0"/>
                <a:ea typeface="Trebuchet MS" pitchFamily="34" charset="-122"/>
                <a:cs typeface="Trebuchet MS" pitchFamily="34" charset="-120"/>
              </a:rPr>
              <a:t>Critères BTEC</a:t>
            </a:r>
            <a:endParaRPr lang="en-US" sz="1100" dirty="0"/>
          </a:p>
        </p:txBody>
      </p:sp>
      <p:sp>
        <p:nvSpPr>
          <p:cNvPr id="31" name="Shape 29"/>
          <p:cNvSpPr/>
          <p:nvPr/>
        </p:nvSpPr>
        <p:spPr>
          <a:xfrm>
            <a:off x="2743200" y="4251960"/>
            <a:ext cx="5943600" cy="438912"/>
          </a:xfrm>
          <a:prstGeom prst="rect">
            <a:avLst/>
          </a:prstGeom>
          <a:solidFill>
            <a:srgbClr val="F3E5F5"/>
          </a:solidFill>
          <a:ln/>
        </p:spPr>
      </p:sp>
      <p:sp>
        <p:nvSpPr>
          <p:cNvPr id="32" name="Text 30"/>
          <p:cNvSpPr/>
          <p:nvPr/>
        </p:nvSpPr>
        <p:spPr>
          <a:xfrm>
            <a:off x="2834640" y="4251960"/>
            <a:ext cx="5760720" cy="438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P5 : produire doc | M5 : doc complète + DFD | D3 : évaluer améliorations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20 — Documentation utilisateur + D3</dc:title>
  <dc:subject>PptxGenJS Presentation</dc:subject>
  <dc:creator>Tatiana Mbi</dc:creator>
  <cp:lastModifiedBy>Tatiana Mbi</cp:lastModifiedBy>
  <cp:revision>1</cp:revision>
  <dcterms:created xsi:type="dcterms:W3CDTF">2026-03-22T04:10:46Z</dcterms:created>
  <dcterms:modified xsi:type="dcterms:W3CDTF">2026-03-22T04:10:46Z</dcterms:modified>
</cp:coreProperties>
</file>