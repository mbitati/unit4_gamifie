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COUNT(*) vs COUNT(col) : question classique d'examen.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Visualiser les groupes au tableau : dessiner comment GROUP BY decoupe les donnees.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L'ordre d'execution est crucial. Dessiner au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fonctions sont utiles pour le dashboard 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sous-requetes sont puissantes. Montrer l'equivalent JOIN.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Dashboard SQL = excellent exemple pour M3 (extraction significative).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dashboard SQL est le point culminant du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36576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13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Agregation GROUP BY HAVING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COUNT, SUM, AVG, MIN, MAX, fonctions MySQL, sous-requetes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Studios | BTEC: P3 M3 | LO2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Fonctions d'agregation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8229600" cy="4480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777240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777240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COUNT(*) : nombre total de lignes (inclut NULL)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252728"/>
            <a:ext cx="8229600" cy="448056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252728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252728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COUNT(colonne) : lignes ou colonne ≠ NULL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728216"/>
            <a:ext cx="8229600" cy="4480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728216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728216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SUM(montant_total) : somme des montants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203704"/>
            <a:ext cx="8229600" cy="448056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203704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203704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AVG(prix) : moyenne des prix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679192"/>
            <a:ext cx="8229600" cy="4480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679192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679192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MIN(date_inscription) : date la plus ancienne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154680"/>
            <a:ext cx="8229600" cy="448056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154680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154680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MAX(tarif_horaire) : tarif le plus eleve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30168"/>
            <a:ext cx="8229600" cy="4480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630168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630168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ROUND(AVG(prix), 2) : arrondir a 2 decimales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GROUP BY : regrouper les resultats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8229600" cy="4480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777240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777240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id_artiste, COUNT(*) AS nb_albums FROM album GROUP BY id_artiste;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252728"/>
            <a:ext cx="8229600" cy="448056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252728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252728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REGLE : si SELECT melange agregation + colonnes normales → GROUP BY obligatoire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728216"/>
            <a:ext cx="8229600" cy="4480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728216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728216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valeur distincte = un GROUPE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203704"/>
            <a:ext cx="8229600" cy="448056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203704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203704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SUM, COUNT, AVG calcules PAR groupe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679192"/>
            <a:ext cx="8229600" cy="4480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679192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679192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Grouper par plusieurs colonnes 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154680"/>
            <a:ext cx="8229600" cy="448056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154680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154680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SELECT YEAR(date), MONTH(date), COUNT(*) FROM session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630168"/>
            <a:ext cx="8229600" cy="4480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630168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630168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GROUP BY YEAR(date), MONTH(date);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105656"/>
            <a:ext cx="8229600" cy="448056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6" name="Shape 24"/>
          <p:cNvSpPr/>
          <p:nvPr/>
        </p:nvSpPr>
        <p:spPr>
          <a:xfrm>
            <a:off x="457200" y="4105656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105656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Exercice GESCOM : CA par categorie client (SUM CACLIC GROUP BY NOCAT)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HAVING vs WHERE — ne pas confondre !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8229600" cy="4480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777240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777240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WHERE filtre les LIGNES avant GROUP BY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252728"/>
            <a:ext cx="8229600" cy="448056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252728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252728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HAVING filtre les GROUPES apres agregation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728216"/>
            <a:ext cx="8229600" cy="4480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728216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728216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ne peut PAS mettre COUNT dans WHERE → erreur !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203704"/>
            <a:ext cx="8229600" cy="448056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203704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203704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PEUT mettre COUNT dans HAVING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679192"/>
            <a:ext cx="8229600" cy="4480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679192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679192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 d'execution SQL 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154680"/>
            <a:ext cx="8229600" cy="448056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154680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154680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FROM → WHERE → GROUP BY → HAVING → SELECT → ORDER BY → LIMIT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630168"/>
            <a:ext cx="8229600" cy="4480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630168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630168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Combinaison : WHERE + GROUP BY + HAVING dans la meme requete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105656"/>
            <a:ext cx="8229600" cy="448056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6" name="Shape 24"/>
          <p:cNvSpPr/>
          <p:nvPr/>
        </p:nvSpPr>
        <p:spPr>
          <a:xfrm>
            <a:off x="457200" y="4105656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105656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Exercice GESCOM : familles ayant plus de 3 articles (HAVING COUNT &gt; 3)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Fonctions MySQL utiles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8229600" cy="4480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777240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777240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YEAR(date), MONTH(date), DAY(date) — extraire parties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52728"/>
            <a:ext cx="8229600" cy="448056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252728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252728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CONCAT(prenom, ' ', nom) — concatener textes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728216"/>
            <a:ext cx="8229600" cy="4480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728216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728216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UPPER(nom), LOWER(email) — majuscules/minuscules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203704"/>
            <a:ext cx="8229600" cy="448056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203704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203704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ROUND(valeur, 2) — arrondir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679192"/>
            <a:ext cx="8229600" cy="4480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679192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679192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NOW() — date+heure | CURDATE() — date seulement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154680"/>
            <a:ext cx="8229600" cy="448056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154680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154680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DATEDIFF(date1, date2) — difference en jours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630168"/>
            <a:ext cx="8229600" cy="4480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630168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630168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IFNULL(colonne, 'N/A') — remplacer NULL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105656"/>
            <a:ext cx="8229600" cy="448056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6" name="Shape 24"/>
          <p:cNvSpPr/>
          <p:nvPr/>
        </p:nvSpPr>
        <p:spPr>
          <a:xfrm>
            <a:off x="457200" y="4105656"/>
            <a:ext cx="45720" cy="44805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105656"/>
            <a:ext cx="7863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COALESCE(a, b, c) — premier non-NULL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Sous-requetes dans WHERE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8229600" cy="4094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77724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77724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* FROM album WHERE prix &gt; (SELECT AVG(prix) FROM album);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214120"/>
            <a:ext cx="8229600" cy="40944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21412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21412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Albums plus chers que la moyenne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651000"/>
            <a:ext cx="8229600" cy="4094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65100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65100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* FROM artiste WHERE id_artiste IN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087880"/>
            <a:ext cx="8229600" cy="40944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08788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08788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(SELECT id_artiste FROM album GROUP BY id_artiste HAVING COUNT(*) &gt; 1);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524760"/>
            <a:ext cx="8229600" cy="4094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52476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52476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Artistes ayant plus d'un album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961640"/>
            <a:ext cx="8229600" cy="40944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296164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296164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sous-requete s'execute EN PREMIER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398520"/>
            <a:ext cx="8229600" cy="4094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39852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39852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Exercice GESCOM : articles jamais commandes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835400"/>
            <a:ext cx="8229600" cy="40944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6" name="Shape 24"/>
          <p:cNvSpPr/>
          <p:nvPr/>
        </p:nvSpPr>
        <p:spPr>
          <a:xfrm>
            <a:off x="457200" y="383540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383540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WHERE NOART NOT IN (SELECT DISTINCT NOART FROM lignecde)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4272280"/>
            <a:ext cx="8229600" cy="4094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457200" y="427228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27228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: souvent remplacable par un JOIN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Dashboard SQL — KPI de SwissSound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8229600" cy="33001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777240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777240"/>
            <a:ext cx="786384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'Artistes actifs' AS kpi, COUNT(*) AS valeur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134687"/>
            <a:ext cx="8229600" cy="330015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134687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134687"/>
            <a:ext cx="786384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FROM artiste WHERE actif = TRUE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492135"/>
            <a:ext cx="8229600" cy="33001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492135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492135"/>
            <a:ext cx="786384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UNION ALL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849582"/>
            <a:ext cx="8229600" cy="330015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1849582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1849582"/>
            <a:ext cx="786384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'Albums publies', COUNT(*) FROM album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207029"/>
            <a:ext cx="8229600" cy="33001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207029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207029"/>
            <a:ext cx="786384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UNION ALL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564476"/>
            <a:ext cx="8229600" cy="330015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2564476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2564476"/>
            <a:ext cx="786384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'CA paye (CHF)', SUM(montant_total)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2921924"/>
            <a:ext cx="8229600" cy="33001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2921924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921924"/>
            <a:ext cx="786384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FROM facture WHERE statut_paiement = 'payee'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279371"/>
            <a:ext cx="8229600" cy="330015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6" name="Shape 24"/>
          <p:cNvSpPr/>
          <p:nvPr/>
        </p:nvSpPr>
        <p:spPr>
          <a:xfrm>
            <a:off x="457200" y="3279371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3279371"/>
            <a:ext cx="786384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UNION ALL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636818"/>
            <a:ext cx="8229600" cy="33001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457200" y="3636818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636818"/>
            <a:ext cx="786384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'Factures impayees', COUNT(*)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3994265"/>
            <a:ext cx="8229600" cy="330015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32" name="Shape 30"/>
          <p:cNvSpPr/>
          <p:nvPr/>
        </p:nvSpPr>
        <p:spPr>
          <a:xfrm>
            <a:off x="457200" y="3994265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" y="3994265"/>
            <a:ext cx="786384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FROM facture WHERE statut_paiement IN ('impayee','en_retard');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351713"/>
            <a:ext cx="8229600" cy="33001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457200" y="4351713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4351713"/>
            <a:ext cx="786384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4 KPI en une seule requete avec UNION ALL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Module 13 — GESCOM + SwissSound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777240"/>
            <a:ext cx="45720" cy="36576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777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GESCOM (bac a sable, exercices 1-5 avances) 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365760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170432"/>
            <a:ext cx="45720" cy="36576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17043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 par categorie, nb articles par famille, familles &gt; 3 articles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563624"/>
            <a:ext cx="822960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563624"/>
            <a:ext cx="45720" cy="36576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5636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1956816"/>
            <a:ext cx="8229600" cy="365760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1956816"/>
            <a:ext cx="45720" cy="36576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195681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1. Nombre d'artistes actifs (COUNT + WHERE)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350008"/>
            <a:ext cx="822960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350008"/>
            <a:ext cx="45720" cy="36576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35000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2. Prix moyen des albums (ROUND + AVG)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2743200"/>
            <a:ext cx="45720" cy="36576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27432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3. Nb albums par artiste (GROUP BY)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136392"/>
            <a:ext cx="822960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136392"/>
            <a:ext cx="45720" cy="36576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13639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4. Artistes avec plus de 1 album (HAVING)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529584"/>
            <a:ext cx="8229600" cy="365760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6" name="Shape 24"/>
          <p:cNvSpPr/>
          <p:nvPr/>
        </p:nvSpPr>
        <p:spPr>
          <a:xfrm>
            <a:off x="457200" y="3529584"/>
            <a:ext cx="45720" cy="36576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352958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5. CA mensuel 2025 (GROUP BY YEAR, MONTH)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922776"/>
            <a:ext cx="822960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457200" y="3922776"/>
            <a:ext cx="45720" cy="36576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9227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6. Dashboard SQL : 5 KPI en UNION ALL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32" name="Shape 30"/>
          <p:cNvSpPr/>
          <p:nvPr/>
        </p:nvSpPr>
        <p:spPr>
          <a:xfrm>
            <a:off x="457200" y="4315968"/>
            <a:ext cx="45720" cy="36576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" y="431596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 : sous-requete pour trouver l'artiste avec le plus de sessions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Mini-jeu : Le Comptable Fou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24688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Calculez les bons totaux pour SwissSound !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 Module 13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457200" y="594360"/>
            <a:ext cx="2286000" cy="411480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94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COUNT(*) vs COUNT(col)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2743200" y="594360"/>
            <a:ext cx="5943600" cy="411480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6" name="Text 4"/>
          <p:cNvSpPr/>
          <p:nvPr/>
        </p:nvSpPr>
        <p:spPr>
          <a:xfrm>
            <a:off x="2834640" y="59436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= toutes lignes, col = ignore NULL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33272"/>
            <a:ext cx="2286000" cy="41148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03327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GROUP BY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0" y="1033272"/>
            <a:ext cx="5943600" cy="41148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0" name="Text 8"/>
          <p:cNvSpPr/>
          <p:nvPr/>
        </p:nvSpPr>
        <p:spPr>
          <a:xfrm>
            <a:off x="2834640" y="1033272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Obligatoire si SELECT melange agregation + colonnes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472184"/>
            <a:ext cx="2286000" cy="411480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47218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HAVING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0" y="1472184"/>
            <a:ext cx="5943600" cy="411480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Text 12"/>
          <p:cNvSpPr/>
          <p:nvPr/>
        </p:nvSpPr>
        <p:spPr>
          <a:xfrm>
            <a:off x="2834640" y="147218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 les GROUPES (apres). WHERE filtre les LIGNES (avant)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1911096"/>
            <a:ext cx="2286000" cy="41148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191109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Ordre SQL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0" y="1911096"/>
            <a:ext cx="5943600" cy="41148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8" name="Text 16"/>
          <p:cNvSpPr/>
          <p:nvPr/>
        </p:nvSpPr>
        <p:spPr>
          <a:xfrm>
            <a:off x="2834640" y="1911096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FROM→WHERE→GROUP BY→HAVING→SELECT→ORDER BY→LIMIT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350008"/>
            <a:ext cx="2286000" cy="411480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23500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0" y="2350008"/>
            <a:ext cx="5943600" cy="411480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2" name="Text 20"/>
          <p:cNvSpPr/>
          <p:nvPr/>
        </p:nvSpPr>
        <p:spPr>
          <a:xfrm>
            <a:off x="2834640" y="235000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YEAR(), ROUND(), CONCAT(), NOW(), IFNULL(), COALESCE()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88920"/>
            <a:ext cx="2286000" cy="41148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27889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Sous-requete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0" y="2788920"/>
            <a:ext cx="5943600" cy="41148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6" name="Text 24"/>
          <p:cNvSpPr/>
          <p:nvPr/>
        </p:nvSpPr>
        <p:spPr>
          <a:xfrm>
            <a:off x="2834640" y="27889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dans WHERE : resultat utilise comme filtre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227832"/>
            <a:ext cx="2286000" cy="411480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322783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UNION ALL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0" y="3227832"/>
            <a:ext cx="5943600" cy="411480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30" name="Text 28"/>
          <p:cNvSpPr/>
          <p:nvPr/>
        </p:nvSpPr>
        <p:spPr>
          <a:xfrm>
            <a:off x="2834640" y="3227832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Combiner plusieurs SELECT en un seul resultat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2026-03-24T09:20:40Z</dcterms:created>
  <dcterms:modified xsi:type="dcterms:W3CDTF">2026-03-24T09:20:40Z</dcterms:modified>
</cp:coreProperties>
</file>